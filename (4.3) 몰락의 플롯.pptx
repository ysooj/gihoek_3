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61" r:id="rId4"/>
    <p:sldId id="262" r:id="rId5"/>
    <p:sldId id="269" r:id="rId6"/>
    <p:sldId id="258" r:id="rId7"/>
    <p:sldId id="263" r:id="rId8"/>
    <p:sldId id="264" r:id="rId9"/>
    <p:sldId id="265" r:id="rId10"/>
    <p:sldId id="266" r:id="rId11"/>
    <p:sldId id="268" r:id="rId12"/>
    <p:sldId id="267" r:id="rId13"/>
    <p:sldId id="274" r:id="rId14"/>
    <p:sldId id="270" r:id="rId15"/>
    <p:sldId id="275" r:id="rId16"/>
    <p:sldId id="271" r:id="rId17"/>
    <p:sldId id="276" r:id="rId18"/>
    <p:sldId id="272" r:id="rId19"/>
    <p:sldId id="277" r:id="rId20"/>
    <p:sldId id="273" r:id="rId21"/>
    <p:sldId id="278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80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27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40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83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19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728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22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65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383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52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42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19D5-9849-49F1-AD6D-E030D3EC46B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32ECF-5929-4F46-B403-CB44A0C55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43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취준에 필요한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이력서에 채워넣을 만한 게 뭐가 있을 지 고민해보자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c/s </a:t>
            </a:r>
            <a:r>
              <a:rPr lang="ko-KR" altLang="en-US" smtClean="0"/>
              <a:t>관련 지식 </a:t>
            </a:r>
            <a:r>
              <a:rPr lang="en-US" altLang="ko-KR" smtClean="0"/>
              <a:t>; CCNA </a:t>
            </a:r>
            <a:r>
              <a:rPr lang="ko-KR" altLang="en-US" smtClean="0"/>
              <a:t>자격증</a:t>
            </a:r>
            <a:endParaRPr lang="en-US" altLang="ko-KR"/>
          </a:p>
          <a:p>
            <a:pPr lvl="1"/>
            <a:r>
              <a:rPr lang="ko-KR" altLang="en-US" smtClean="0"/>
              <a:t>커뮤니케이션 능력 </a:t>
            </a:r>
            <a:r>
              <a:rPr lang="en-US" altLang="ko-KR" smtClean="0"/>
              <a:t>; </a:t>
            </a:r>
            <a:r>
              <a:rPr lang="ko-KR" altLang="en-US" smtClean="0"/>
              <a:t>교사 자격증</a:t>
            </a:r>
            <a:endParaRPr lang="en-US" altLang="ko-KR" smtClean="0"/>
          </a:p>
          <a:p>
            <a:pPr lvl="1"/>
            <a:r>
              <a:rPr lang="ko-KR" altLang="en-US" smtClean="0"/>
              <a:t>문서 작성 능력  </a:t>
            </a:r>
            <a:r>
              <a:rPr lang="en-US" altLang="ko-KR" smtClean="0"/>
              <a:t>; MOS Master &lt; MI(MS Office </a:t>
            </a:r>
            <a:r>
              <a:rPr lang="ko-KR" altLang="en-US" smtClean="0"/>
              <a:t>교육 자격증</a:t>
            </a:r>
            <a:r>
              <a:rPr lang="en-US" altLang="ko-KR" smtClean="0"/>
              <a:t>)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게임 기획자 자격증</a:t>
            </a:r>
            <a:r>
              <a:rPr lang="en-US" altLang="ko-KR" smtClean="0"/>
              <a:t>’ </a:t>
            </a:r>
            <a:r>
              <a:rPr lang="ko-KR" altLang="en-US" smtClean="0"/>
              <a:t>시간 있으면</a:t>
            </a:r>
            <a:r>
              <a:rPr lang="en-US" altLang="ko-KR" smtClean="0"/>
              <a:t> </a:t>
            </a:r>
            <a:r>
              <a:rPr lang="ko-KR" altLang="en-US" smtClean="0"/>
              <a:t>따볼만하다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‘Game Title’</a:t>
            </a:r>
          </a:p>
          <a:p>
            <a:endParaRPr lang="en-US" altLang="ko-KR" smtClean="0"/>
          </a:p>
          <a:p>
            <a:r>
              <a:rPr lang="ko-KR" altLang="en-US" smtClean="0"/>
              <a:t>주말 동안 시간 내서 이력서와 자기소개서 써보자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986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(20) </a:t>
            </a:r>
            <a:r>
              <a:rPr lang="ko-KR" altLang="en-US" smtClean="0"/>
              <a:t>몰락의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멈춰야 할 때 멈추지 않게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설정 </a:t>
            </a:r>
            <a:r>
              <a:rPr lang="en-US" altLang="ko-KR" smtClean="0"/>
              <a:t>: </a:t>
            </a:r>
            <a:r>
              <a:rPr lang="ko-KR" altLang="en-US" smtClean="0"/>
              <a:t>주인공에게 지식</a:t>
            </a:r>
            <a:r>
              <a:rPr lang="en-US" altLang="ko-KR" smtClean="0"/>
              <a:t>/</a:t>
            </a:r>
            <a:r>
              <a:rPr lang="ko-KR" altLang="en-US" smtClean="0"/>
              <a:t>사랑 등 결핍을 부여</a:t>
            </a:r>
            <a:endParaRPr lang="en-US" altLang="ko-KR" smtClean="0"/>
          </a:p>
          <a:p>
            <a:r>
              <a:rPr lang="ko-KR" altLang="en-US" smtClean="0"/>
              <a:t>주인공은 그 결핍을 채우는 방향으로 행동함</a:t>
            </a:r>
            <a:endParaRPr lang="en-US" altLang="ko-KR" smtClean="0"/>
          </a:p>
          <a:p>
            <a:r>
              <a:rPr lang="ko-KR" altLang="en-US" smtClean="0"/>
              <a:t>결핍을 채울 때 </a:t>
            </a:r>
            <a:r>
              <a:rPr lang="en-US" altLang="ko-KR" smtClean="0"/>
              <a:t>: </a:t>
            </a:r>
            <a:r>
              <a:rPr lang="ko-KR" altLang="en-US" smtClean="0"/>
              <a:t>다른 사람 것을 뺏어서 채움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9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위대한 개츠비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mtClean="0"/>
              <a:t>치밀한 설계</a:t>
            </a:r>
            <a:r>
              <a:rPr lang="en-US" altLang="ko-KR" smtClean="0"/>
              <a:t>/</a:t>
            </a:r>
            <a:r>
              <a:rPr lang="ko-KR" altLang="en-US" smtClean="0"/>
              <a:t>설정 </a:t>
            </a:r>
            <a:r>
              <a:rPr lang="en-US" altLang="ko-KR" smtClean="0"/>
              <a:t>: </a:t>
            </a:r>
            <a:r>
              <a:rPr lang="ko-KR" altLang="en-US" smtClean="0"/>
              <a:t>당시 시대에서 불법</a:t>
            </a:r>
            <a:r>
              <a:rPr lang="en-US" altLang="ko-KR" smtClean="0"/>
              <a:t>(</a:t>
            </a:r>
            <a:r>
              <a:rPr lang="ko-KR" altLang="en-US" smtClean="0"/>
              <a:t>금주령</a:t>
            </a:r>
            <a:r>
              <a:rPr lang="en-US" altLang="ko-KR" smtClean="0"/>
              <a:t>)</a:t>
            </a:r>
            <a:r>
              <a:rPr lang="ko-KR" altLang="en-US" smtClean="0"/>
              <a:t>인 </a:t>
            </a:r>
            <a:r>
              <a:rPr lang="en-US" altLang="ko-KR" smtClean="0"/>
              <a:t>‘</a:t>
            </a:r>
            <a:r>
              <a:rPr lang="ko-KR" altLang="en-US" smtClean="0"/>
              <a:t>곡식으로 술 만들어서 팔기</a:t>
            </a:r>
            <a:r>
              <a:rPr lang="en-US" altLang="ko-KR" smtClean="0"/>
              <a:t>’</a:t>
            </a:r>
            <a:r>
              <a:rPr lang="ko-KR" altLang="en-US" smtClean="0"/>
              <a:t>로 어마무시한 돈을 벌어들임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그러나 마음만은 첫 사랑 데이지</a:t>
            </a:r>
            <a:r>
              <a:rPr lang="en-US" altLang="ko-KR" smtClean="0"/>
              <a:t>(</a:t>
            </a:r>
            <a:r>
              <a:rPr lang="ko-KR" altLang="en-US" smtClean="0"/>
              <a:t>개츠비가 참전하여 연락이 두절된 후 톰과 결혼함</a:t>
            </a:r>
            <a:r>
              <a:rPr lang="en-US" altLang="ko-KR" smtClean="0"/>
              <a:t>)</a:t>
            </a:r>
            <a:r>
              <a:rPr lang="ko-KR" altLang="en-US" smtClean="0"/>
              <a:t>에게 순수한 마음이 그대로인 순수한 청년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인물마다 바운더리가 있다</a:t>
            </a:r>
            <a:r>
              <a:rPr lang="en-US" altLang="ko-KR" smtClean="0"/>
              <a:t>. </a:t>
            </a:r>
            <a:r>
              <a:rPr lang="ko-KR" altLang="en-US" smtClean="0"/>
              <a:t>그 바운더리를 벗어나기 위해서는 </a:t>
            </a:r>
            <a:r>
              <a:rPr lang="en-US" altLang="ko-KR" smtClean="0"/>
              <a:t>‘</a:t>
            </a:r>
            <a:r>
              <a:rPr lang="ko-KR" altLang="en-US" smtClean="0"/>
              <a:t>각오</a:t>
            </a:r>
            <a:r>
              <a:rPr lang="en-US" altLang="ko-KR" smtClean="0"/>
              <a:t>’</a:t>
            </a:r>
            <a:r>
              <a:rPr lang="ko-KR" altLang="en-US" smtClean="0"/>
              <a:t>가 필요</a:t>
            </a:r>
            <a:r>
              <a:rPr lang="en-US" altLang="ko-KR" smtClean="0"/>
              <a:t>. </a:t>
            </a:r>
            <a:r>
              <a:rPr lang="ko-KR" altLang="en-US" smtClean="0"/>
              <a:t>바운더리를 벗어나면 영화의 배경음악</a:t>
            </a:r>
            <a:r>
              <a:rPr lang="en-US" altLang="ko-KR" smtClean="0"/>
              <a:t>/</a:t>
            </a:r>
            <a:r>
              <a:rPr lang="ko-KR" altLang="en-US" smtClean="0"/>
              <a:t>색조가 바뀜</a:t>
            </a:r>
            <a:endParaRPr lang="en-US" altLang="ko-KR" smtClean="0"/>
          </a:p>
          <a:p>
            <a:r>
              <a:rPr lang="ko-KR" altLang="en-US" smtClean="0"/>
              <a:t>개츠비는 돈이 없어서 데이지를 잃었던 과거의 </a:t>
            </a:r>
            <a:r>
              <a:rPr lang="en-US" altLang="ko-KR" smtClean="0"/>
              <a:t>‘</a:t>
            </a:r>
            <a:r>
              <a:rPr lang="ko-KR" altLang="en-US" smtClean="0"/>
              <a:t>공허</a:t>
            </a:r>
            <a:r>
              <a:rPr lang="en-US" altLang="ko-KR" smtClean="0"/>
              <a:t>＇</a:t>
            </a:r>
            <a:r>
              <a:rPr lang="ko-KR" altLang="en-US" smtClean="0"/>
              <a:t>함을 메꾸려고 한다</a:t>
            </a:r>
            <a:r>
              <a:rPr lang="en-US" altLang="ko-KR" smtClean="0"/>
              <a:t>. </a:t>
            </a:r>
            <a:r>
              <a:rPr lang="ko-KR" altLang="en-US" smtClean="0"/>
              <a:t>그래서 무리하게 데이지를 완전하게 가지기 위해 자꾸 몰아감</a:t>
            </a:r>
            <a:r>
              <a:rPr lang="en-US" altLang="ko-KR" smtClean="0"/>
              <a:t>. </a:t>
            </a:r>
            <a:r>
              <a:rPr lang="ko-KR" altLang="en-US" smtClean="0"/>
              <a:t>이미 데이지의 마음은 얻었으니</a:t>
            </a:r>
            <a:r>
              <a:rPr lang="en-US" altLang="ko-KR" smtClean="0"/>
              <a:t>, </a:t>
            </a:r>
            <a:r>
              <a:rPr lang="ko-KR" altLang="en-US" smtClean="0"/>
              <a:t>거기서 멈춰도 되지만</a:t>
            </a:r>
            <a:r>
              <a:rPr lang="en-US" altLang="ko-KR" smtClean="0"/>
              <a:t>, </a:t>
            </a:r>
            <a:r>
              <a:rPr lang="ko-KR" altLang="en-US" smtClean="0"/>
              <a:t>그는 이미 과거의 상처를 극복하지 못하고 채우려는 마음으로 가득찬 상태</a:t>
            </a:r>
            <a:endParaRPr lang="en-US" altLang="ko-KR" smtClean="0"/>
          </a:p>
          <a:p>
            <a:r>
              <a:rPr lang="ko-KR" altLang="en-US" smtClean="0"/>
              <a:t>데이지는 마음은 개츠비에게 넘어왔지만</a:t>
            </a:r>
            <a:r>
              <a:rPr lang="en-US" altLang="ko-KR" smtClean="0"/>
              <a:t>, </a:t>
            </a:r>
            <a:r>
              <a:rPr lang="ko-KR" altLang="en-US" smtClean="0"/>
              <a:t>이미 안정적인 생활에 익숙해져있는 상태</a:t>
            </a:r>
            <a:r>
              <a:rPr lang="en-US" altLang="ko-KR" smtClean="0"/>
              <a:t>. </a:t>
            </a:r>
            <a:endParaRPr lang="ko-KR" altLang="en-US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18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위대한 개츠비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데이지가 차사고를 냈을 때 </a:t>
            </a:r>
            <a:r>
              <a:rPr lang="en-US" altLang="ko-KR" smtClean="0"/>
              <a:t>; </a:t>
            </a:r>
            <a:r>
              <a:rPr lang="ko-KR" altLang="en-US" smtClean="0"/>
              <a:t>개츠비가 뒤집어씀</a:t>
            </a:r>
            <a:endParaRPr lang="en-US" altLang="ko-KR" smtClean="0"/>
          </a:p>
          <a:p>
            <a:r>
              <a:rPr lang="ko-KR" altLang="en-US" smtClean="0"/>
              <a:t>데이지의 남편이 개츠비가 피해자의 남편에게 개츠비가 범인이고</a:t>
            </a:r>
            <a:r>
              <a:rPr lang="en-US" altLang="ko-KR" smtClean="0"/>
              <a:t>, </a:t>
            </a:r>
            <a:r>
              <a:rPr lang="ko-KR" altLang="en-US" smtClean="0"/>
              <a:t>피해자와 불륜을 했다고 뒤집어씌움</a:t>
            </a:r>
            <a:r>
              <a:rPr lang="en-US" altLang="ko-KR" smtClean="0"/>
              <a:t>(</a:t>
            </a:r>
            <a:r>
              <a:rPr lang="ko-KR" altLang="en-US" smtClean="0"/>
              <a:t>사실은 본인이 불륜남인데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피해자의 남편에 의해 개츠비는 살해당함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9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89" y="585390"/>
            <a:ext cx="8221222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25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485364"/>
            <a:ext cx="7506748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3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복습</a:t>
            </a:r>
            <a:r>
              <a:rPr lang="en-US" altLang="ko-KR" smtClean="0"/>
              <a:t>] – </a:t>
            </a:r>
            <a:r>
              <a:rPr lang="ko-KR" altLang="en-US" smtClean="0"/>
              <a:t>플롯 </a:t>
            </a:r>
            <a:r>
              <a:rPr lang="en-US" altLang="ko-KR" smtClean="0"/>
              <a:t>: </a:t>
            </a:r>
            <a:r>
              <a:rPr lang="ko-KR" altLang="en-US" smtClean="0"/>
              <a:t>이야기의 관통 시나리오</a:t>
            </a:r>
            <a:r>
              <a:rPr lang="en-US" altLang="ko-KR" smtClean="0"/>
              <a:t>. </a:t>
            </a:r>
            <a:br>
              <a:rPr lang="en-US" altLang="ko-KR" smtClean="0"/>
            </a:br>
            <a:r>
              <a:rPr lang="en-US" altLang="ko-KR" smtClean="0"/>
              <a:t>                   </a:t>
            </a:r>
            <a:r>
              <a:rPr lang="ko-KR" altLang="en-US" smtClean="0"/>
              <a:t>이야기의 중심 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이야기</a:t>
            </a:r>
            <a:r>
              <a:rPr lang="en-US" altLang="ko-KR" smtClean="0"/>
              <a:t>]</a:t>
            </a:r>
            <a:br>
              <a:rPr lang="en-US" altLang="ko-KR" smtClean="0"/>
            </a:br>
            <a:r>
              <a:rPr lang="ko-KR" altLang="en-US" smtClean="0">
                <a:solidFill>
                  <a:schemeClr val="accent1"/>
                </a:solidFill>
              </a:rPr>
              <a:t>왕이 죽자</a:t>
            </a:r>
            <a:r>
              <a:rPr lang="en-US" altLang="ko-KR" smtClean="0"/>
              <a:t>,</a:t>
            </a:r>
            <a:r>
              <a:rPr lang="en-US" altLang="ko-KR" smtClean="0">
                <a:solidFill>
                  <a:schemeClr val="accent1"/>
                </a:solidFill>
              </a:rPr>
              <a:t> </a:t>
            </a:r>
            <a:r>
              <a:rPr lang="ko-KR" altLang="en-US" smtClean="0">
                <a:solidFill>
                  <a:schemeClr val="accent1"/>
                </a:solidFill>
              </a:rPr>
              <a:t>왕비가 죽었다</a:t>
            </a:r>
            <a:r>
              <a:rPr lang="en-US" altLang="ko-KR" smtClean="0">
                <a:solidFill>
                  <a:schemeClr val="accent1"/>
                </a:solidFill>
              </a:rPr>
              <a:t>. </a:t>
            </a:r>
          </a:p>
          <a:p>
            <a:endParaRPr lang="en-US" altLang="ko-KR"/>
          </a:p>
          <a:p>
            <a:r>
              <a:rPr lang="ko-KR" altLang="en-US" smtClean="0">
                <a:solidFill>
                  <a:schemeClr val="accent1"/>
                </a:solidFill>
              </a:rPr>
              <a:t>사실</a:t>
            </a:r>
            <a:r>
              <a:rPr lang="ko-KR" altLang="en-US" smtClean="0"/>
              <a:t>을 바탕으로 </a:t>
            </a:r>
            <a:r>
              <a:rPr lang="ko-KR" altLang="en-US" smtClean="0">
                <a:solidFill>
                  <a:schemeClr val="accent2"/>
                </a:solidFill>
              </a:rPr>
              <a:t>의도</a:t>
            </a:r>
            <a:r>
              <a:rPr lang="ko-KR" altLang="en-US" smtClean="0"/>
              <a:t>를 설계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[</a:t>
            </a:r>
            <a:r>
              <a:rPr lang="ko-KR" altLang="en-US" smtClean="0"/>
              <a:t>플롯</a:t>
            </a:r>
            <a:r>
              <a:rPr lang="en-US" altLang="ko-KR" smtClean="0"/>
              <a:t>]</a:t>
            </a:r>
            <a:br>
              <a:rPr lang="en-US" altLang="ko-KR" smtClean="0"/>
            </a:br>
            <a:r>
              <a:rPr lang="ko-KR" altLang="en-US" smtClean="0"/>
              <a:t>왕이 죽자</a:t>
            </a:r>
            <a:r>
              <a:rPr lang="en-US" altLang="ko-KR" smtClean="0"/>
              <a:t>, </a:t>
            </a:r>
            <a:r>
              <a:rPr lang="ko-KR" altLang="en-US" smtClean="0">
                <a:solidFill>
                  <a:schemeClr val="accent2"/>
                </a:solidFill>
              </a:rPr>
              <a:t>이를 너무나 슬퍼한 나머지</a:t>
            </a:r>
            <a:r>
              <a:rPr lang="ko-KR" altLang="en-US" smtClean="0"/>
              <a:t> 왕비가 </a:t>
            </a:r>
            <a:r>
              <a:rPr lang="ko-KR" altLang="en-US" smtClean="0">
                <a:solidFill>
                  <a:schemeClr val="accent2"/>
                </a:solidFill>
              </a:rPr>
              <a:t>따라서</a:t>
            </a:r>
            <a:r>
              <a:rPr lang="ko-KR" altLang="en-US" smtClean="0"/>
              <a:t> 죽었다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977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758" y="1080760"/>
            <a:ext cx="6506483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1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요즘의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플롯은 원래 정해진 게 아님</a:t>
            </a:r>
            <a:endParaRPr lang="en-US" altLang="ko-KR" smtClean="0"/>
          </a:p>
          <a:p>
            <a:r>
              <a:rPr lang="ko-KR" altLang="en-US" smtClean="0"/>
              <a:t>돈을 받고 이야기를 쓰는 프로들이</a:t>
            </a:r>
            <a:endParaRPr lang="en-US" altLang="ko-KR" smtClean="0"/>
          </a:p>
          <a:p>
            <a:r>
              <a:rPr lang="ko-KR" altLang="en-US" smtClean="0"/>
              <a:t>특정 이야기의 방향성을 정리한 게</a:t>
            </a:r>
            <a:endParaRPr lang="en-US" altLang="ko-KR" smtClean="0"/>
          </a:p>
          <a:p>
            <a:r>
              <a:rPr lang="ko-KR" altLang="en-US" smtClean="0"/>
              <a:t>요즘의 </a:t>
            </a:r>
            <a:r>
              <a:rPr lang="en-US" altLang="ko-KR" smtClean="0"/>
              <a:t>‘</a:t>
            </a:r>
            <a:r>
              <a:rPr lang="ko-KR" altLang="en-US" smtClean="0"/>
              <a:t>플롯</a:t>
            </a:r>
            <a:r>
              <a:rPr lang="en-US" altLang="ko-KR" smtClean="0"/>
              <a:t>＇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805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아이디어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사실은 선의는 사용하면 줄어드는 게 아니다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선의를 강요당하기에 선의라는 그 마음 자체가 줄어들게 된 거고</a:t>
            </a:r>
            <a:r>
              <a:rPr lang="en-US" altLang="ko-KR" smtClean="0"/>
              <a:t>, </a:t>
            </a:r>
            <a:r>
              <a:rPr lang="ko-KR" altLang="en-US" smtClean="0"/>
              <a:t>그것이 </a:t>
            </a:r>
            <a:r>
              <a:rPr lang="en-US" altLang="ko-KR" smtClean="0"/>
              <a:t>‘</a:t>
            </a:r>
            <a:r>
              <a:rPr lang="ko-KR" altLang="en-US" smtClean="0"/>
              <a:t>사용하면 줄어드는 것</a:t>
            </a:r>
            <a:r>
              <a:rPr lang="en-US" altLang="ko-KR" smtClean="0"/>
              <a:t>＇</a:t>
            </a:r>
            <a:r>
              <a:rPr lang="ko-KR" altLang="en-US" smtClean="0"/>
              <a:t>처럼 보이게 한 것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주인공의 거절 엔딩 </a:t>
            </a:r>
            <a:r>
              <a:rPr lang="en-US" altLang="ko-KR" smtClean="0"/>
              <a:t>: </a:t>
            </a:r>
            <a:r>
              <a:rPr lang="ko-KR" altLang="en-US" smtClean="0"/>
              <a:t>주인공이 늙어서 남들에게 배려를 강요하는 사람이 됨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지하철에서 당당하게 새치기를 하며 </a:t>
            </a:r>
            <a:r>
              <a:rPr lang="en-US" altLang="ko-KR" smtClean="0"/>
              <a:t>‘</a:t>
            </a:r>
            <a:r>
              <a:rPr lang="ko-KR" altLang="en-US" smtClean="0"/>
              <a:t>할머니 짐 많으니까 먼저 탈게</a:t>
            </a:r>
            <a:r>
              <a:rPr lang="en-US" altLang="ko-KR" smtClean="0"/>
              <a:t>. (</a:t>
            </a:r>
            <a:r>
              <a:rPr lang="ko-KR" altLang="en-US" smtClean="0"/>
              <a:t>미안하지 않고 당연한 말투</a:t>
            </a:r>
            <a:r>
              <a:rPr lang="en-US" altLang="ko-KR" smtClean="0"/>
              <a:t>)’. </a:t>
            </a:r>
            <a:r>
              <a:rPr lang="ko-KR" altLang="en-US" smtClean="0"/>
              <a:t>배려받지 않았을 때 그 사람을 비난</a:t>
            </a:r>
            <a:r>
              <a:rPr lang="en-US" altLang="ko-KR" smtClean="0"/>
              <a:t>. ‘</a:t>
            </a:r>
            <a:r>
              <a:rPr lang="ko-KR" altLang="en-US" smtClean="0"/>
              <a:t>정말 못됐다</a:t>
            </a:r>
            <a:r>
              <a:rPr lang="en-US" altLang="ko-KR" smtClean="0"/>
              <a:t>. </a:t>
            </a:r>
            <a:r>
              <a:rPr lang="ko-KR" altLang="en-US" smtClean="0"/>
              <a:t>그렇게 못됐게 살아라</a:t>
            </a:r>
            <a:r>
              <a:rPr lang="en-US" altLang="ko-KR" smtClean="0"/>
              <a:t>＇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436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88" y="109074"/>
            <a:ext cx="8764223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83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370" y="2052070"/>
            <a:ext cx="6487430" cy="4534533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ko-KR" altLang="en-US" smtClean="0"/>
              <a:t>게임을 만드는 글쓰기</a:t>
            </a:r>
            <a:endParaRPr lang="ko-KR" altLang="en-US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529390" y="36565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단으로 글쓰기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20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단으로 글쓰기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mtClean="0"/>
              <a:t>[5</a:t>
            </a:r>
            <a:r>
              <a:rPr lang="ko-KR" altLang="en-US" smtClean="0"/>
              <a:t>단 구성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발단 </a:t>
            </a:r>
            <a:r>
              <a:rPr lang="en-US" altLang="ko-KR" smtClean="0"/>
              <a:t>– </a:t>
            </a:r>
            <a:r>
              <a:rPr lang="ko-KR" altLang="en-US" smtClean="0"/>
              <a:t>전개 </a:t>
            </a:r>
            <a:r>
              <a:rPr lang="en-US" altLang="ko-KR" smtClean="0"/>
              <a:t>– </a:t>
            </a:r>
            <a:r>
              <a:rPr lang="ko-KR" altLang="en-US" smtClean="0"/>
              <a:t>위기 </a:t>
            </a:r>
            <a:r>
              <a:rPr lang="en-US" altLang="ko-KR" smtClean="0"/>
              <a:t>– </a:t>
            </a:r>
            <a:r>
              <a:rPr lang="ko-KR" altLang="en-US" smtClean="0"/>
              <a:t>절정 </a:t>
            </a:r>
            <a:r>
              <a:rPr lang="en-US" altLang="ko-KR" smtClean="0"/>
              <a:t>– </a:t>
            </a:r>
            <a:r>
              <a:rPr lang="ko-KR" altLang="en-US" smtClean="0"/>
              <a:t>결말</a:t>
            </a:r>
            <a:endParaRPr lang="en-US" altLang="ko-KR" smtClean="0"/>
          </a:p>
          <a:p>
            <a:r>
              <a:rPr lang="ko-KR" altLang="en-US" smtClean="0"/>
              <a:t>나누는 이유 </a:t>
            </a:r>
            <a:r>
              <a:rPr lang="en-US" altLang="ko-KR" smtClean="0"/>
              <a:t>(</a:t>
            </a:r>
            <a:r>
              <a:rPr lang="ko-KR" altLang="en-US" smtClean="0"/>
              <a:t>갈등</a:t>
            </a:r>
            <a:r>
              <a:rPr lang="en-US" altLang="ko-KR" smtClean="0"/>
              <a:t>) : </a:t>
            </a:r>
            <a:r>
              <a:rPr lang="ko-KR" altLang="en-US" smtClean="0"/>
              <a:t>제시 </a:t>
            </a:r>
            <a:r>
              <a:rPr lang="en-US" altLang="ko-KR" smtClean="0"/>
              <a:t>– </a:t>
            </a:r>
            <a:r>
              <a:rPr lang="ko-KR" altLang="en-US" smtClean="0"/>
              <a:t>인지 </a:t>
            </a:r>
            <a:r>
              <a:rPr lang="en-US" altLang="ko-KR" smtClean="0"/>
              <a:t>– </a:t>
            </a:r>
            <a:r>
              <a:rPr lang="ko-KR" altLang="en-US" smtClean="0"/>
              <a:t>고조 </a:t>
            </a:r>
            <a:r>
              <a:rPr lang="en-US" altLang="ko-KR" smtClean="0"/>
              <a:t>– </a:t>
            </a:r>
            <a:r>
              <a:rPr lang="ko-KR" altLang="en-US" smtClean="0"/>
              <a:t>최고조 </a:t>
            </a:r>
            <a:r>
              <a:rPr lang="en-US" altLang="ko-KR" smtClean="0"/>
              <a:t>– </a:t>
            </a:r>
            <a:r>
              <a:rPr lang="ko-KR" altLang="en-US" smtClean="0"/>
              <a:t>해소</a:t>
            </a:r>
            <a:endParaRPr lang="en-US" altLang="ko-KR" smtClean="0"/>
          </a:p>
          <a:p>
            <a:r>
              <a:rPr lang="ko-KR" altLang="en-US" smtClean="0"/>
              <a:t>이걸 벗어나면 단의 구성을 하지 않은 것</a:t>
            </a:r>
            <a:endParaRPr lang="en-US" altLang="ko-KR"/>
          </a:p>
          <a:p>
            <a:endParaRPr lang="en-US" altLang="ko-KR" smtClean="0"/>
          </a:p>
          <a:p>
            <a:r>
              <a:rPr lang="en-US" altLang="ko-KR" smtClean="0"/>
              <a:t>[4</a:t>
            </a:r>
            <a:r>
              <a:rPr lang="ko-KR" altLang="en-US" smtClean="0"/>
              <a:t>단</a:t>
            </a:r>
            <a:r>
              <a:rPr lang="en-US" altLang="ko-KR" smtClean="0"/>
              <a:t>] =&gt; </a:t>
            </a:r>
            <a:r>
              <a:rPr lang="ko-KR" altLang="en-US" smtClean="0"/>
              <a:t>클라이막스로 좀 더 빨리 가게 하기 위해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[3</a:t>
            </a:r>
            <a:r>
              <a:rPr lang="ko-KR" altLang="en-US" smtClean="0"/>
              <a:t>단</a:t>
            </a:r>
            <a:r>
              <a:rPr lang="en-US" altLang="ko-KR" smtClean="0"/>
              <a:t>] =&gt; </a:t>
            </a:r>
            <a:r>
              <a:rPr lang="ko-KR" altLang="en-US" smtClean="0"/>
              <a:t>사람이 받아들이기 가장 좋은 서론</a:t>
            </a:r>
            <a:r>
              <a:rPr lang="en-US" altLang="ko-KR" smtClean="0"/>
              <a:t>-</a:t>
            </a:r>
            <a:r>
              <a:rPr lang="ko-KR" altLang="en-US" smtClean="0"/>
              <a:t>본론</a:t>
            </a:r>
            <a:r>
              <a:rPr lang="en-US" altLang="ko-KR" smtClean="0"/>
              <a:t>-</a:t>
            </a:r>
            <a:r>
              <a:rPr lang="ko-KR" altLang="en-US" smtClean="0"/>
              <a:t>결론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요즘 </a:t>
            </a:r>
            <a:r>
              <a:rPr lang="en-US" altLang="ko-KR" smtClean="0"/>
              <a:t>3</a:t>
            </a:r>
            <a:r>
              <a:rPr lang="ko-KR" altLang="en-US" smtClean="0"/>
              <a:t>단 </a:t>
            </a:r>
            <a:r>
              <a:rPr lang="en-US" altLang="ko-KR" smtClean="0"/>
              <a:t>=&gt; </a:t>
            </a:r>
            <a:r>
              <a:rPr lang="ko-KR" altLang="en-US" smtClean="0"/>
              <a:t>정답 먼저 제시 </a:t>
            </a:r>
            <a:r>
              <a:rPr lang="en-US" altLang="ko-KR" smtClean="0"/>
              <a:t>-&gt; </a:t>
            </a:r>
            <a:r>
              <a:rPr lang="ko-KR" altLang="en-US" smtClean="0"/>
              <a:t>정답의 근거 제시 </a:t>
            </a:r>
            <a:r>
              <a:rPr lang="en-US" altLang="ko-KR" smtClean="0"/>
              <a:t>-&gt; </a:t>
            </a:r>
            <a:r>
              <a:rPr lang="ko-KR" altLang="en-US" smtClean="0"/>
              <a:t>요약</a:t>
            </a:r>
            <a:endParaRPr lang="en-US" altLang="ko-KR" smtClean="0"/>
          </a:p>
          <a:p>
            <a:r>
              <a:rPr lang="en-US" altLang="ko-KR" smtClean="0"/>
              <a:t>[2</a:t>
            </a:r>
            <a:r>
              <a:rPr lang="ko-KR" altLang="en-US" smtClean="0"/>
              <a:t>단</a:t>
            </a:r>
            <a:r>
              <a:rPr lang="en-US" altLang="ko-KR" smtClean="0"/>
              <a:t>] =&gt; </a:t>
            </a:r>
            <a:r>
              <a:rPr lang="ko-KR" altLang="en-US" smtClean="0"/>
              <a:t>인과</a:t>
            </a:r>
            <a:r>
              <a:rPr lang="en-US" altLang="ko-KR" smtClean="0"/>
              <a:t>(</a:t>
            </a:r>
            <a:r>
              <a:rPr lang="ko-KR" altLang="en-US" smtClean="0"/>
              <a:t>선택에 대한 결과</a:t>
            </a:r>
            <a:r>
              <a:rPr lang="en-US" altLang="ko-KR" smtClean="0"/>
              <a:t>). </a:t>
            </a:r>
            <a:r>
              <a:rPr lang="ko-KR" altLang="en-US" smtClean="0"/>
              <a:t>연역</a:t>
            </a:r>
            <a:r>
              <a:rPr lang="en-US" altLang="ko-KR" smtClean="0"/>
              <a:t>(</a:t>
            </a:r>
            <a:r>
              <a:rPr lang="ko-KR" altLang="en-US" smtClean="0"/>
              <a:t>이론 제시 </a:t>
            </a:r>
            <a:r>
              <a:rPr lang="en-US" altLang="ko-KR" smtClean="0"/>
              <a:t>-&gt; </a:t>
            </a:r>
            <a:r>
              <a:rPr lang="ko-KR" altLang="en-US" smtClean="0"/>
              <a:t>실제 사례</a:t>
            </a:r>
            <a:r>
              <a:rPr lang="en-US" altLang="ko-KR" smtClean="0"/>
              <a:t>), </a:t>
            </a:r>
            <a:r>
              <a:rPr lang="ko-KR" altLang="en-US" smtClean="0"/>
              <a:t>귀납</a:t>
            </a:r>
            <a:r>
              <a:rPr lang="en-US" altLang="ko-KR" smtClean="0"/>
              <a:t>(</a:t>
            </a:r>
            <a:r>
              <a:rPr lang="ko-KR" altLang="en-US" smtClean="0"/>
              <a:t>실제 사례 </a:t>
            </a:r>
            <a:r>
              <a:rPr lang="en-US" altLang="ko-KR" smtClean="0"/>
              <a:t>-&gt; </a:t>
            </a:r>
            <a:r>
              <a:rPr lang="ko-KR" altLang="en-US" smtClean="0"/>
              <a:t>이론을 제시</a:t>
            </a:r>
            <a:r>
              <a:rPr lang="en-US" altLang="ko-KR" smtClean="0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775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서사적으로 글쓰기</a:t>
            </a:r>
            <a:r>
              <a:rPr lang="en-US" altLang="ko-KR" smtClean="0"/>
              <a:t/>
            </a:r>
            <a:br>
              <a:rPr lang="en-US" altLang="ko-KR" smtClean="0"/>
            </a:b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92" y="1417861"/>
            <a:ext cx="10789815" cy="518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47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서사적으로 글쓰기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History . </a:t>
            </a:r>
            <a:r>
              <a:rPr lang="ko-KR" altLang="en-US" smtClean="0"/>
              <a:t>역사를 만드는 것</a:t>
            </a:r>
            <a:r>
              <a:rPr lang="en-US" altLang="ko-KR" smtClean="0"/>
              <a:t>. </a:t>
            </a:r>
            <a:r>
              <a:rPr lang="ko-KR" altLang="en-US" smtClean="0"/>
              <a:t>그래서 쉽지 않음</a:t>
            </a:r>
            <a:endParaRPr lang="en-US" altLang="ko-KR" smtClean="0"/>
          </a:p>
          <a:p>
            <a:r>
              <a:rPr lang="ko-KR" altLang="en-US" smtClean="0"/>
              <a:t>시간의 흐름</a:t>
            </a:r>
            <a:r>
              <a:rPr lang="en-US" altLang="ko-KR" smtClean="0"/>
              <a:t>(</a:t>
            </a:r>
            <a:r>
              <a:rPr lang="ko-KR" altLang="en-US" smtClean="0"/>
              <a:t>타임라인</a:t>
            </a:r>
            <a:r>
              <a:rPr lang="en-US" altLang="ko-KR" smtClean="0"/>
              <a:t>)</a:t>
            </a:r>
            <a:r>
              <a:rPr lang="ko-KR" altLang="en-US" smtClean="0"/>
              <a:t>으로 사건을 나열하는 것</a:t>
            </a:r>
            <a:endParaRPr lang="en-US" altLang="ko-KR" smtClean="0"/>
          </a:p>
          <a:p>
            <a:r>
              <a:rPr lang="ko-KR" altLang="en-US" smtClean="0"/>
              <a:t>그것이 수백년의 이야기</a:t>
            </a:r>
            <a:r>
              <a:rPr lang="en-US" altLang="ko-KR" smtClean="0"/>
              <a:t>. </a:t>
            </a:r>
            <a:r>
              <a:rPr lang="ko-KR" altLang="en-US" smtClean="0"/>
              <a:t>그래서 정말 오래 걸림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작가가 적어도 </a:t>
            </a:r>
            <a:r>
              <a:rPr lang="en-US" altLang="ko-KR" smtClean="0"/>
              <a:t>10</a:t>
            </a:r>
            <a:r>
              <a:rPr lang="ko-KR" altLang="en-US" smtClean="0"/>
              <a:t>년 이상 글을 써야 함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해리포터</a:t>
            </a:r>
            <a:r>
              <a:rPr lang="en-US" altLang="ko-KR" smtClean="0"/>
              <a:t>. </a:t>
            </a:r>
            <a:r>
              <a:rPr lang="ko-KR" altLang="en-US" smtClean="0"/>
              <a:t>반지의 제왕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345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서정적으로 글쓰기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21" y="1498277"/>
            <a:ext cx="8623740" cy="512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98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서정적인 글쓰기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스킬 대사 </a:t>
            </a:r>
            <a:r>
              <a:rPr lang="en-US" altLang="ko-KR" smtClean="0"/>
              <a:t>/ </a:t>
            </a:r>
            <a:r>
              <a:rPr lang="ko-KR" altLang="en-US" smtClean="0"/>
              <a:t>주문</a:t>
            </a:r>
            <a:endParaRPr lang="en-US" altLang="ko-KR" smtClean="0"/>
          </a:p>
          <a:p>
            <a:r>
              <a:rPr lang="ko-KR" altLang="en-US" smtClean="0"/>
              <a:t>음유 시인이 </a:t>
            </a:r>
            <a:r>
              <a:rPr lang="en-US" altLang="ko-KR" smtClean="0"/>
              <a:t>/ </a:t>
            </a:r>
            <a:r>
              <a:rPr lang="ko-KR" altLang="en-US" smtClean="0"/>
              <a:t>노래 가사처럼</a:t>
            </a:r>
            <a:endParaRPr lang="en-US" altLang="ko-KR" smtClean="0"/>
          </a:p>
          <a:p>
            <a:r>
              <a:rPr lang="ko-KR" altLang="en-US" smtClean="0"/>
              <a:t>글을 쓰는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481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캐릭터 중심의 글쓰기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5660135"/>
            <a:ext cx="10515600" cy="516827"/>
          </a:xfrm>
        </p:spPr>
        <p:txBody>
          <a:bodyPr/>
          <a:lstStyle/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원피스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1238"/>
            <a:ext cx="6611273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873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캐릭터 중심으로 글쓰기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어떤 사람이 어떤 사람과 만났는가에 따라서</a:t>
            </a:r>
            <a:endParaRPr lang="en-US" altLang="ko-KR" smtClean="0"/>
          </a:p>
          <a:p>
            <a:r>
              <a:rPr lang="ko-KR" altLang="en-US" smtClean="0"/>
              <a:t>다른 이야기가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181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00" y="1426464"/>
            <a:ext cx="7411131" cy="516636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이게 게임을 만드는 이야기의 가장 핵심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745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플레이어의 이야기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이야기적인 당위성이 주어져야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그러면 플레이어들은 알아서</a:t>
            </a:r>
            <a:endParaRPr lang="en-US" altLang="ko-KR" smtClean="0"/>
          </a:p>
          <a:p>
            <a:r>
              <a:rPr lang="ko-KR" altLang="en-US" smtClean="0"/>
              <a:t>그들만의 이야기를 만들어나가면서 플에이하게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358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514</Words>
  <Application>Microsoft Office PowerPoint</Application>
  <PresentationFormat>와이드스크린</PresentationFormat>
  <Paragraphs>76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취준에 필요한 것</vt:lpstr>
      <vt:lpstr>(20) 몰락의 플롯</vt:lpstr>
      <vt:lpstr>[위대한 개츠비]</vt:lpstr>
      <vt:lpstr>[위대한 개츠비]</vt:lpstr>
      <vt:lpstr>PowerPoint 프레젠테이션</vt:lpstr>
      <vt:lpstr>PowerPoint 프레젠테이션</vt:lpstr>
      <vt:lpstr>[복습] – 플롯 : 이야기의 관통 시나리오.                     이야기의 중심 축</vt:lpstr>
      <vt:lpstr>PowerPoint 프레젠테이션</vt:lpstr>
      <vt:lpstr>요즘의 플롯</vt:lpstr>
      <vt:lpstr>떠오른 아이디어</vt:lpstr>
      <vt:lpstr>PowerPoint 프레젠테이션</vt:lpstr>
      <vt:lpstr>게임을 만드는 글쓰기</vt:lpstr>
      <vt:lpstr>[단으로 글쓰기]</vt:lpstr>
      <vt:lpstr>서사적으로 글쓰기 </vt:lpstr>
      <vt:lpstr>서사적으로 글쓰기</vt:lpstr>
      <vt:lpstr>서정적으로 글쓰기</vt:lpstr>
      <vt:lpstr>서정적인 글쓰기</vt:lpstr>
      <vt:lpstr>캐릭터 중심의 글쓰기</vt:lpstr>
      <vt:lpstr>캐릭터 중심으로 글쓰기</vt:lpstr>
      <vt:lpstr>이게 게임을 만드는 이야기의 가장 핵심</vt:lpstr>
      <vt:lpstr>플레이어의 이야기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10</cp:revision>
  <dcterms:created xsi:type="dcterms:W3CDTF">2026-04-03T05:02:11Z</dcterms:created>
  <dcterms:modified xsi:type="dcterms:W3CDTF">2026-04-03T06:52:03Z</dcterms:modified>
</cp:coreProperties>
</file>