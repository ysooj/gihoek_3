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3" r:id="rId11"/>
    <p:sldId id="257" r:id="rId12"/>
    <p:sldId id="271" r:id="rId13"/>
    <p:sldId id="272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75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2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66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9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809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72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97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33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45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1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97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B4421-86D6-41B9-9BE6-E1CFF904DFD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0E148-5521-41AE-803F-C81E586E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48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(6) </a:t>
            </a:r>
            <a:r>
              <a:rPr lang="ko-KR" altLang="en-US" smtClean="0"/>
              <a:t>복수의 플롯 </a:t>
            </a:r>
            <a:r>
              <a:rPr lang="en-US" altLang="ko-KR" smtClean="0"/>
              <a:t>- [</a:t>
            </a:r>
            <a:r>
              <a:rPr lang="ko-KR" altLang="en-US" smtClean="0"/>
              <a:t>신의한수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3242" y="1825625"/>
            <a:ext cx="11245516" cy="4351338"/>
          </a:xfrm>
        </p:spPr>
        <p:txBody>
          <a:bodyPr/>
          <a:lstStyle/>
          <a:p>
            <a:r>
              <a:rPr lang="ko-KR" altLang="en-US" smtClean="0"/>
              <a:t>주인공</a:t>
            </a:r>
            <a:endParaRPr lang="en-US" altLang="ko-KR" smtClean="0"/>
          </a:p>
          <a:p>
            <a:pPr lvl="1"/>
            <a:r>
              <a:rPr lang="ko-KR" altLang="en-US" smtClean="0"/>
              <a:t>초반 </a:t>
            </a:r>
            <a:r>
              <a:rPr lang="en-US" altLang="ko-KR" smtClean="0"/>
              <a:t>: </a:t>
            </a:r>
            <a:r>
              <a:rPr lang="ko-KR" altLang="en-US" smtClean="0"/>
              <a:t>프로 바둑 기사인 주인공이 한 수를 고민하다가 시간을 초과하는 우유부단한 모습을 보여준다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복수를 준비할 때</a:t>
            </a:r>
            <a:r>
              <a:rPr lang="en-US" altLang="ko-KR" smtClean="0"/>
              <a:t>, </a:t>
            </a:r>
            <a:r>
              <a:rPr lang="ko-KR" altLang="en-US" smtClean="0"/>
              <a:t>이런 우유부단한 모습</a:t>
            </a:r>
            <a:r>
              <a:rPr lang="en-US" altLang="ko-KR" smtClean="0"/>
              <a:t>, </a:t>
            </a:r>
            <a:r>
              <a:rPr lang="ko-KR" altLang="en-US" smtClean="0"/>
              <a:t>시간을 관리하는 것부터 고친다</a:t>
            </a:r>
            <a:r>
              <a:rPr lang="en-US" altLang="ko-KR" smtClean="0"/>
              <a:t>.</a:t>
            </a:r>
            <a:endParaRPr lang="en-US" altLang="ko-KR" smtClean="0"/>
          </a:p>
          <a:p>
            <a:r>
              <a:rPr lang="ko-KR" altLang="en-US" smtClean="0"/>
              <a:t>말도 안 되는 우연</a:t>
            </a:r>
            <a:r>
              <a:rPr lang="en-US" altLang="ko-KR" smtClean="0"/>
              <a:t>, </a:t>
            </a:r>
            <a:r>
              <a:rPr lang="ko-KR" altLang="en-US" smtClean="0"/>
              <a:t>기연</a:t>
            </a:r>
            <a:r>
              <a:rPr lang="en-US" altLang="ko-KR" smtClean="0"/>
              <a:t>, </a:t>
            </a:r>
            <a:r>
              <a:rPr lang="ko-KR" altLang="en-US" smtClean="0"/>
              <a:t>인연</a:t>
            </a:r>
            <a:r>
              <a:rPr lang="en-US" altLang="ko-KR" smtClean="0"/>
              <a:t>. </a:t>
            </a:r>
            <a:r>
              <a:rPr lang="ko-KR" altLang="en-US" smtClean="0"/>
              <a:t>이를 통해 복수를 위한 준비를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주인공이 부족할수록 준비 기간을 많이 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복수는 </a:t>
            </a:r>
            <a:r>
              <a:rPr lang="en-US" altLang="ko-KR" smtClean="0"/>
              <a:t>‘</a:t>
            </a:r>
            <a:r>
              <a:rPr lang="ko-KR" altLang="en-US" smtClean="0"/>
              <a:t>계단</a:t>
            </a:r>
            <a:r>
              <a:rPr lang="en-US" altLang="ko-KR" smtClean="0"/>
              <a:t>＇</a:t>
            </a:r>
            <a:r>
              <a:rPr lang="ko-KR" altLang="en-US" smtClean="0"/>
              <a:t>처럼 진행된다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보스의 부하부터 보스까지 차례차례 진행된다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66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신의 한수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3874" y="1825625"/>
            <a:ext cx="10764252" cy="4351338"/>
          </a:xfrm>
        </p:spPr>
        <p:txBody>
          <a:bodyPr/>
          <a:lstStyle/>
          <a:p>
            <a:r>
              <a:rPr lang="ko-KR" altLang="en-US" smtClean="0"/>
              <a:t>복수가 진행될수록 관객들이 </a:t>
            </a:r>
            <a:r>
              <a:rPr lang="en-US" altLang="ko-KR" smtClean="0"/>
              <a:t>‘</a:t>
            </a:r>
            <a:r>
              <a:rPr lang="ko-KR" altLang="en-US" smtClean="0"/>
              <a:t>너무 심한 거 아니야</a:t>
            </a:r>
            <a:r>
              <a:rPr lang="en-US" altLang="ko-KR" smtClean="0"/>
              <a:t>?’ </a:t>
            </a:r>
            <a:r>
              <a:rPr lang="ko-KR" altLang="en-US" smtClean="0"/>
              <a:t>라는 생각이 들면서 주인공을 응원하는 마음이 사라지지 않게 관리하기 위해</a:t>
            </a:r>
            <a:endParaRPr lang="en-US" altLang="ko-KR" smtClean="0"/>
          </a:p>
          <a:p>
            <a:r>
              <a:rPr lang="ko-KR" altLang="en-US" smtClean="0"/>
              <a:t>주인공의 주변 인물</a:t>
            </a:r>
            <a:r>
              <a:rPr lang="en-US" altLang="ko-KR" smtClean="0"/>
              <a:t>, </a:t>
            </a:r>
            <a:r>
              <a:rPr lang="ko-KR" altLang="en-US" smtClean="0"/>
              <a:t>조력자가 당하는 모습을 보여준다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결국 보스와의 대결에서 승리함으로서 복수를 성공한다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5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ko-KR" altLang="en-US" smtClean="0"/>
              <a:t>복수의 플롯 단계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58780"/>
            <a:ext cx="10515600" cy="579922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잔혹한 범죄의 현장에서 시작</a:t>
            </a:r>
            <a:endParaRPr lang="en-US" altLang="ko-KR" smtClean="0"/>
          </a:p>
          <a:p>
            <a:r>
              <a:rPr lang="ko-KR" altLang="en-US" smtClean="0"/>
              <a:t>주인공은 처절한 피해자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처절함의 정도가 클수록 복수는 잔혹해도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이야기의 자극을 높이려면</a:t>
            </a:r>
            <a:endParaRPr lang="en-US" altLang="ko-KR" smtClean="0"/>
          </a:p>
          <a:p>
            <a:r>
              <a:rPr lang="ko-KR" altLang="en-US" smtClean="0"/>
              <a:t>주인공은 더 처절하게 당해야 하며</a:t>
            </a:r>
            <a:endParaRPr lang="en-US" altLang="ko-KR" smtClean="0"/>
          </a:p>
          <a:p>
            <a:r>
              <a:rPr lang="ko-KR" altLang="en-US" smtClean="0"/>
              <a:t>그러면 더 잔인한 복수가 가능해진다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실제 세계에서는 </a:t>
            </a:r>
            <a:r>
              <a:rPr lang="en-US" altLang="ko-KR" smtClean="0"/>
              <a:t>‘</a:t>
            </a:r>
            <a:r>
              <a:rPr lang="ko-KR" altLang="en-US" smtClean="0"/>
              <a:t>내가 부족해서 당한 거야</a:t>
            </a:r>
            <a:r>
              <a:rPr lang="en-US" altLang="ko-KR" smtClean="0"/>
              <a:t>＇</a:t>
            </a:r>
            <a:r>
              <a:rPr lang="ko-KR" altLang="en-US" smtClean="0"/>
              <a:t>는 말이 안 되지만</a:t>
            </a:r>
            <a:endParaRPr lang="en-US" altLang="ko-KR" smtClean="0"/>
          </a:p>
          <a:p>
            <a:r>
              <a:rPr lang="ko-KR" altLang="en-US" smtClean="0"/>
              <a:t>이야기의 세계에서는 </a:t>
            </a:r>
            <a:r>
              <a:rPr lang="en-US" altLang="ko-KR" smtClean="0"/>
              <a:t>‘</a:t>
            </a:r>
            <a:r>
              <a:rPr lang="ko-KR" altLang="en-US" smtClean="0"/>
              <a:t>주인공이 부족해서 당한 것이고</a:t>
            </a:r>
            <a:r>
              <a:rPr lang="en-US" altLang="ko-KR" smtClean="0"/>
              <a:t>‘, </a:t>
            </a:r>
            <a:br>
              <a:rPr lang="en-US" altLang="ko-KR" smtClean="0"/>
            </a:br>
            <a:r>
              <a:rPr lang="ko-KR" altLang="en-US" smtClean="0"/>
              <a:t>주인공이 부족한 만큼 복수를 준비하는 </a:t>
            </a:r>
            <a:r>
              <a:rPr lang="en-US" altLang="ko-KR" smtClean="0"/>
              <a:t>‘</a:t>
            </a:r>
            <a:r>
              <a:rPr lang="ko-KR" altLang="en-US" smtClean="0"/>
              <a:t>준비의 기간</a:t>
            </a:r>
            <a:r>
              <a:rPr lang="en-US" altLang="ko-KR" smtClean="0"/>
              <a:t>’</a:t>
            </a:r>
            <a:r>
              <a:rPr lang="ko-KR" altLang="en-US" smtClean="0"/>
              <a:t>이 더 필요하다</a:t>
            </a:r>
            <a:endParaRPr lang="en-US" altLang="ko-KR" smtClean="0"/>
          </a:p>
          <a:p>
            <a:r>
              <a:rPr lang="ko-KR" altLang="en-US" smtClean="0"/>
              <a:t>주인공을 응원하는 마음을 관리학 위해 조력자의 희생</a:t>
            </a:r>
            <a:r>
              <a:rPr lang="en-US" altLang="ko-KR" smtClean="0"/>
              <a:t>, </a:t>
            </a:r>
            <a:r>
              <a:rPr lang="ko-KR" altLang="en-US" smtClean="0"/>
              <a:t>악당의 악행을 또 보여준다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35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세계 최고의 복수의 플롯 </a:t>
            </a:r>
            <a:r>
              <a:rPr lang="en-US" altLang="ko-KR" smtClean="0"/>
              <a:t>– [</a:t>
            </a:r>
            <a:r>
              <a:rPr lang="ko-KR" altLang="en-US" smtClean="0"/>
              <a:t>킬빌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29599"/>
            <a:ext cx="10515600" cy="4943390"/>
          </a:xfrm>
        </p:spPr>
        <p:txBody>
          <a:bodyPr>
            <a:normAutofit/>
          </a:bodyPr>
          <a:lstStyle/>
          <a:p>
            <a:r>
              <a:rPr lang="ko-KR" altLang="en-US" smtClean="0"/>
              <a:t>쿠엔틴 타란티노</a:t>
            </a:r>
            <a:endParaRPr lang="en-US" altLang="ko-KR" smtClean="0"/>
          </a:p>
          <a:p>
            <a:pPr lvl="1"/>
            <a:r>
              <a:rPr lang="ko-KR" altLang="en-US" smtClean="0"/>
              <a:t>그 상황에서 </a:t>
            </a:r>
            <a:r>
              <a:rPr lang="en-US" altLang="ko-KR" smtClean="0"/>
              <a:t>‘</a:t>
            </a:r>
            <a:r>
              <a:rPr lang="ko-KR" altLang="en-US" smtClean="0"/>
              <a:t>누가 더 죽어야 할 사람인가</a:t>
            </a:r>
            <a:r>
              <a:rPr lang="en-US" altLang="ko-KR" smtClean="0"/>
              <a:t>‘</a:t>
            </a:r>
            <a:r>
              <a:rPr lang="ko-KR" altLang="en-US" smtClean="0"/>
              <a:t>를 논한다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주인공과 배신자 동료 둘 다 수백명을 죽인 암살자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    </a:t>
            </a:r>
            <a:r>
              <a:rPr lang="ko-KR" altLang="en-US" smtClean="0"/>
              <a:t>이 둘의 싸움에서는 동료의 딸이 집에 오자</a:t>
            </a:r>
            <a:r>
              <a:rPr lang="en-US" altLang="ko-KR" smtClean="0"/>
              <a:t>, </a:t>
            </a:r>
            <a:r>
              <a:rPr lang="ko-KR" altLang="en-US" smtClean="0"/>
              <a:t>나중에 다시 싸우기로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약속하지만</a:t>
            </a:r>
            <a:r>
              <a:rPr lang="en-US" altLang="ko-KR" smtClean="0"/>
              <a:t>, </a:t>
            </a:r>
            <a:r>
              <a:rPr lang="ko-KR" altLang="en-US" smtClean="0"/>
              <a:t>동료가 약속을 어기고 주인공을 바로 공격하게 되면서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이 상황에서는 동료가 </a:t>
            </a:r>
            <a:r>
              <a:rPr lang="en-US" altLang="ko-KR" smtClean="0"/>
              <a:t>‘</a:t>
            </a:r>
            <a:r>
              <a:rPr lang="ko-KR" altLang="en-US" smtClean="0"/>
              <a:t>약속을 어겼기 때문에</a:t>
            </a:r>
            <a:r>
              <a:rPr lang="en-US" altLang="ko-KR" smtClean="0"/>
              <a:t>‘ </a:t>
            </a:r>
            <a:r>
              <a:rPr lang="ko-KR" altLang="en-US" smtClean="0"/>
              <a:t>더 죽어야 할 사람이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므로 동료가 죽어야 하는 것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두 번째 복수를 먼저 보여주고</a:t>
            </a:r>
            <a:r>
              <a:rPr lang="en-US" altLang="ko-KR" smtClean="0"/>
              <a:t>, </a:t>
            </a:r>
            <a:r>
              <a:rPr lang="ko-KR" altLang="en-US" smtClean="0"/>
              <a:t>그 다음으로 첫 번째 복수를 보여준다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</a:t>
            </a:r>
            <a:r>
              <a:rPr lang="ko-KR" altLang="en-US" smtClean="0"/>
              <a:t>시간을 역순으로 보여주는 것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첫 번째 복수 </a:t>
            </a:r>
            <a:r>
              <a:rPr lang="en-US" altLang="ko-KR" smtClean="0"/>
              <a:t>: </a:t>
            </a:r>
            <a:r>
              <a:rPr lang="ko-KR" altLang="en-US" smtClean="0"/>
              <a:t>동료는 숨어 있어서 찾아야 함</a:t>
            </a:r>
            <a:r>
              <a:rPr lang="en-US" altLang="ko-KR" smtClean="0"/>
              <a:t>. But </a:t>
            </a:r>
            <a:r>
              <a:rPr lang="ko-KR" altLang="en-US" smtClean="0"/>
              <a:t>작은 액션 씬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     </a:t>
            </a:r>
            <a:r>
              <a:rPr lang="ko-KR" altLang="en-US" smtClean="0"/>
              <a:t>두 번째 복수 </a:t>
            </a:r>
            <a:r>
              <a:rPr lang="en-US" altLang="ko-KR" smtClean="0"/>
              <a:t>: </a:t>
            </a:r>
            <a:r>
              <a:rPr lang="ko-KR" altLang="en-US" smtClean="0"/>
              <a:t>야쿠자의 보스이므로 찾기 쉬움</a:t>
            </a:r>
            <a:r>
              <a:rPr lang="en-US" altLang="ko-KR" smtClean="0"/>
              <a:t>. But </a:t>
            </a:r>
            <a:r>
              <a:rPr lang="ko-KR" altLang="en-US" smtClean="0"/>
              <a:t>큰 액션 씬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</a:t>
            </a:r>
            <a:r>
              <a:rPr lang="ko-KR" altLang="en-US" smtClean="0"/>
              <a:t>따라서 시간 상으로는 두 번째를 먼저 실행했지만</a:t>
            </a:r>
            <a:r>
              <a:rPr lang="en-US" altLang="ko-KR" smtClean="0"/>
              <a:t>, </a:t>
            </a:r>
            <a:r>
              <a:rPr lang="ko-KR" altLang="en-US" smtClean="0"/>
              <a:t>영화상 더 자극적인 것을 나중에 보여주기 위해서 첫 번째 복수를 이후에 보여준 것</a:t>
            </a:r>
            <a:r>
              <a:rPr lang="en-US" altLang="ko-KR" smtClean="0"/>
              <a:t>.</a:t>
            </a:r>
            <a:endParaRPr lang="en-US" altLang="ko-KR"/>
          </a:p>
          <a:p>
            <a:pPr lvl="1"/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5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킬빌</a:t>
            </a:r>
            <a:r>
              <a:rPr lang="en-US" altLang="ko-KR" smtClean="0"/>
              <a:t>] – </a:t>
            </a:r>
            <a:r>
              <a:rPr lang="ko-KR" altLang="en-US" smtClean="0"/>
              <a:t>복수 준비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처음 주인공이 당하는 장면 </a:t>
            </a:r>
            <a:r>
              <a:rPr lang="en-US" altLang="ko-KR" smtClean="0"/>
              <a:t>: </a:t>
            </a:r>
            <a:r>
              <a:rPr lang="ko-KR" altLang="en-US" smtClean="0"/>
              <a:t>결혼식 리허설에서 예랑이에 의해 임신한 아이도 잃고 주인공도 죽을 뻔한다</a:t>
            </a:r>
            <a:r>
              <a:rPr lang="en-US" altLang="ko-KR"/>
              <a:t>.</a:t>
            </a:r>
            <a:endParaRPr lang="en-US" altLang="ko-KR" smtClean="0"/>
          </a:p>
          <a:p>
            <a:r>
              <a:rPr lang="ko-KR" altLang="en-US" smtClean="0"/>
              <a:t>야쿠자 보스의 부하인 간호사로 인해 병원에서 처절한 일을 당한다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병원에서 자신에게 나쁜 짓을 저지른 사람들에게 복수하고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재활하면서 복수를 준비한다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빌에게 복수할 </a:t>
            </a:r>
            <a:r>
              <a:rPr lang="en-US" altLang="ko-KR" smtClean="0"/>
              <a:t>‘</a:t>
            </a:r>
            <a:r>
              <a:rPr lang="ko-KR" altLang="en-US" smtClean="0"/>
              <a:t>검</a:t>
            </a:r>
            <a:r>
              <a:rPr lang="en-US" altLang="ko-KR" smtClean="0"/>
              <a:t>‘</a:t>
            </a:r>
            <a:r>
              <a:rPr lang="ko-KR" altLang="en-US" smtClean="0"/>
              <a:t>이 필요해서 명장을 찾아간다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준비 후</a:t>
            </a:r>
            <a:r>
              <a:rPr lang="en-US" altLang="ko-KR" smtClean="0"/>
              <a:t>, </a:t>
            </a:r>
            <a:r>
              <a:rPr lang="ko-KR" altLang="en-US" smtClean="0"/>
              <a:t>가장 찾기 쉬웠던 야쿠자 보스에게 복수하기로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2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킬빌</a:t>
            </a:r>
            <a:r>
              <a:rPr lang="en-US" altLang="ko-KR" smtClean="0"/>
              <a:t>] – </a:t>
            </a:r>
            <a:r>
              <a:rPr lang="ko-KR" altLang="en-US" smtClean="0"/>
              <a:t>야쿠자 보스에게 복수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쿠엔틴 타란티노</a:t>
            </a:r>
            <a:endParaRPr lang="en-US" altLang="ko-KR" smtClean="0"/>
          </a:p>
          <a:p>
            <a:pPr lvl="1"/>
            <a:r>
              <a:rPr lang="ko-KR" altLang="en-US" smtClean="0"/>
              <a:t>전투 장면이 신난다</a:t>
            </a:r>
            <a:r>
              <a:rPr lang="en-US" altLang="ko-KR" smtClean="0"/>
              <a:t>. </a:t>
            </a:r>
            <a:r>
              <a:rPr lang="ko-KR" altLang="en-US" smtClean="0"/>
              <a:t>음악</a:t>
            </a:r>
            <a:r>
              <a:rPr lang="en-US" altLang="ko-KR"/>
              <a:t> </a:t>
            </a:r>
            <a:r>
              <a:rPr lang="ko-KR" altLang="en-US" smtClean="0"/>
              <a:t>등</a:t>
            </a:r>
            <a:endParaRPr lang="en-US" altLang="ko-KR" smtClean="0"/>
          </a:p>
          <a:p>
            <a:pPr lvl="1"/>
            <a:r>
              <a:rPr lang="ko-KR" altLang="en-US" smtClean="0"/>
              <a:t>미장센도 훌륭</a:t>
            </a:r>
            <a:endParaRPr lang="en-US" altLang="ko-KR" smtClean="0"/>
          </a:p>
          <a:p>
            <a:pPr lvl="1"/>
            <a:r>
              <a:rPr lang="ko-KR" altLang="en-US" smtClean="0"/>
              <a:t>관객의 응원하는 마음 관리 </a:t>
            </a:r>
            <a:r>
              <a:rPr lang="en-US" altLang="ko-KR" smtClean="0"/>
              <a:t>: </a:t>
            </a:r>
            <a:r>
              <a:rPr lang="ko-KR" altLang="en-US" smtClean="0"/>
              <a:t>중학생 정도의 아이가 칼 들고 덤빌 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엄마처럼 칼 옆면으로 엉덩이를 때리고 집에 보낸다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노약자는 건드리지 않는다는 규칙</a:t>
            </a:r>
            <a:r>
              <a:rPr lang="en-US" altLang="ko-KR" smtClean="0"/>
              <a:t>!</a:t>
            </a:r>
          </a:p>
          <a:p>
            <a:pPr lvl="1"/>
            <a:endParaRPr lang="en-US" altLang="ko-KR"/>
          </a:p>
          <a:p>
            <a:r>
              <a:rPr lang="ko-KR" altLang="en-US" smtClean="0"/>
              <a:t>주인공이 한 달을 기다려서 명장에게 얻은 검의 차이로 인해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무사와 무사와의 대결에서 주인공이 이기게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무사 </a:t>
            </a:r>
            <a:r>
              <a:rPr lang="en-US" altLang="ko-KR" smtClean="0"/>
              <a:t>vs </a:t>
            </a:r>
            <a:r>
              <a:rPr lang="ko-KR" altLang="en-US" smtClean="0"/>
              <a:t>무사 대결에서 검의 능력치 또한 무사의 실력이므로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329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킬빌</a:t>
            </a:r>
            <a:r>
              <a:rPr lang="en-US" altLang="ko-KR" smtClean="0"/>
              <a:t>2] – </a:t>
            </a:r>
            <a:r>
              <a:rPr lang="ko-KR" altLang="en-US" smtClean="0"/>
              <a:t>도입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smtClean="0"/>
              <a:t>쿠엔틴 타란티노</a:t>
            </a:r>
            <a:endParaRPr lang="en-US" altLang="ko-KR" smtClean="0"/>
          </a:p>
          <a:p>
            <a:pPr lvl="1"/>
            <a:r>
              <a:rPr lang="en-US" altLang="ko-KR" smtClean="0"/>
              <a:t>2</a:t>
            </a:r>
            <a:r>
              <a:rPr lang="ko-KR" altLang="en-US" smtClean="0"/>
              <a:t>탄이므로 관객이 이미 주인공의 정보를 알고 있지만</a:t>
            </a:r>
            <a:r>
              <a:rPr lang="en-US" altLang="ko-KR" smtClean="0"/>
              <a:t>,</a:t>
            </a:r>
          </a:p>
          <a:p>
            <a:pPr lvl="1"/>
            <a:r>
              <a:rPr lang="ko-KR" altLang="en-US" smtClean="0"/>
              <a:t>복수의 플롯은 </a:t>
            </a:r>
            <a:r>
              <a:rPr lang="en-US" altLang="ko-KR" smtClean="0"/>
              <a:t>‘</a:t>
            </a:r>
            <a:r>
              <a:rPr lang="ko-KR" altLang="en-US" smtClean="0"/>
              <a:t>잔혹한 범죄의 처절한 현장</a:t>
            </a:r>
            <a:r>
              <a:rPr lang="en-US" altLang="ko-KR" smtClean="0"/>
              <a:t>‘</a:t>
            </a:r>
            <a:r>
              <a:rPr lang="ko-KR" altLang="en-US" smtClean="0"/>
              <a:t>에서 시작되므로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주인공이 처절하고 잔혹하게 당하는 장면으로 시작한다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잔혹한 범죄의 현장에서 영화가 시작되는 것</a:t>
            </a:r>
            <a:r>
              <a:rPr lang="en-US" altLang="ko-KR" smtClean="0"/>
              <a:t>.</a:t>
            </a:r>
          </a:p>
          <a:p>
            <a:pPr lvl="1"/>
            <a:endParaRPr lang="en-US" altLang="ko-KR" smtClean="0"/>
          </a:p>
          <a:p>
            <a:r>
              <a:rPr lang="ko-KR" altLang="en-US" smtClean="0"/>
              <a:t>주인공은 암살단 보스와 사랑하는 연인 사이였지만</a:t>
            </a:r>
            <a:r>
              <a:rPr lang="en-US" altLang="ko-KR" smtClean="0"/>
              <a:t>, </a:t>
            </a:r>
            <a:r>
              <a:rPr lang="ko-KR" altLang="en-US" smtClean="0"/>
              <a:t>주인공은 어느 날 사라지고</a:t>
            </a:r>
            <a:r>
              <a:rPr lang="en-US" altLang="ko-KR" smtClean="0"/>
              <a:t>, </a:t>
            </a:r>
            <a:r>
              <a:rPr lang="ko-KR" altLang="en-US" smtClean="0"/>
              <a:t>보스가 주인공을 찾았을 때는 주인공은 보스의 아이를 임신한 만삭인 상태로 일반인 남자와의 결혼식을 앞두고 있었다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배신감에 결혼식을 난장판으로 만들고 주인공까지 죽인 보스와 그 부하들</a:t>
            </a:r>
            <a:r>
              <a:rPr lang="en-US" altLang="ko-KR" smtClean="0"/>
              <a:t>. </a:t>
            </a:r>
            <a:r>
              <a:rPr lang="ko-KR" altLang="en-US" smtClean="0"/>
              <a:t>주인공이 이들에게 복수하려는 이야기로 시작한다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759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킬빌</a:t>
            </a:r>
            <a:r>
              <a:rPr lang="en-US" altLang="ko-KR" smtClean="0"/>
              <a:t>2] – </a:t>
            </a:r>
            <a:r>
              <a:rPr lang="ko-KR" altLang="en-US" smtClean="0"/>
              <a:t>보스의 남동생에게 복수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7621" y="1825625"/>
            <a:ext cx="10956758" cy="4351338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보스의 남동생과 싸우다가 져서 생매장의 위기에 처한다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주인공을 응원하는 마음 관리 </a:t>
            </a:r>
            <a:r>
              <a:rPr lang="en-US" altLang="ko-KR" smtClean="0"/>
              <a:t>: </a:t>
            </a:r>
            <a:r>
              <a:rPr lang="ko-KR" altLang="en-US" smtClean="0"/>
              <a:t>관에서 탈출하기 위한 능력을 갖출 수 있게 준비 과정에서 도움을 받은</a:t>
            </a:r>
            <a:r>
              <a:rPr lang="en-US" altLang="ko-KR" smtClean="0"/>
              <a:t>, </a:t>
            </a:r>
            <a:r>
              <a:rPr lang="ko-KR" altLang="en-US" smtClean="0"/>
              <a:t>과거 사부와의 이야기를 보여준다</a:t>
            </a:r>
            <a:r>
              <a:rPr lang="en-US" altLang="ko-KR" smtClean="0"/>
              <a:t>. =&gt; 8cm </a:t>
            </a:r>
            <a:r>
              <a:rPr lang="ko-KR" altLang="en-US" smtClean="0"/>
              <a:t>펀치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보스의 남동생은 과거 암살단의 또다른 동료에게 주인공의 명검을 팔기로 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여기서 남동생은 그 동료의 독사에 의해 죽게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주인공에 의해 죽은 게 아니다</a:t>
            </a:r>
            <a:r>
              <a:rPr lang="en-US" altLang="ko-KR" smtClean="0"/>
              <a:t>. </a:t>
            </a:r>
            <a:r>
              <a:rPr lang="ko-KR" altLang="en-US" smtClean="0"/>
              <a:t>주인공이 데리고 있던 부하</a:t>
            </a:r>
            <a:r>
              <a:rPr lang="en-US" altLang="ko-KR" smtClean="0"/>
              <a:t>(=</a:t>
            </a:r>
            <a:r>
              <a:rPr lang="ko-KR" altLang="en-US" smtClean="0"/>
              <a:t>동료</a:t>
            </a:r>
            <a:r>
              <a:rPr lang="en-US" altLang="ko-KR" smtClean="0"/>
              <a:t>)</a:t>
            </a:r>
            <a:r>
              <a:rPr lang="ko-KR" altLang="en-US" smtClean="0"/>
              <a:t>에 의해 죽게 된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29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킬빌</a:t>
            </a:r>
            <a:r>
              <a:rPr lang="en-US" altLang="ko-KR" smtClean="0"/>
              <a:t>2] – </a:t>
            </a:r>
            <a:r>
              <a:rPr lang="ko-KR" altLang="en-US" smtClean="0"/>
              <a:t>보스에게 복수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01788"/>
            <a:ext cx="10515600" cy="4799012"/>
          </a:xfrm>
        </p:spPr>
        <p:txBody>
          <a:bodyPr>
            <a:normAutofit/>
          </a:bodyPr>
          <a:lstStyle/>
          <a:p>
            <a:r>
              <a:rPr lang="ko-KR" altLang="en-US" smtClean="0"/>
              <a:t>타이메이 사부에게 </a:t>
            </a:r>
            <a:r>
              <a:rPr lang="en-US" altLang="ko-KR" smtClean="0"/>
              <a:t>‘</a:t>
            </a:r>
            <a:r>
              <a:rPr lang="ko-KR" altLang="en-US" smtClean="0"/>
              <a:t>심장 파열권</a:t>
            </a:r>
            <a:r>
              <a:rPr lang="en-US" altLang="ko-KR" smtClean="0"/>
              <a:t>＇</a:t>
            </a:r>
            <a:r>
              <a:rPr lang="ko-KR" altLang="en-US" smtClean="0"/>
              <a:t>을 전수받은 주인공</a:t>
            </a:r>
            <a:endParaRPr lang="en-US" altLang="ko-KR" smtClean="0"/>
          </a:p>
          <a:p>
            <a:r>
              <a:rPr lang="ko-KR" altLang="en-US" smtClean="0"/>
              <a:t>이 기술은 사부에게 인정받은 단 한명만이 전수받을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보스와의 싸움에서 이 기술로 보스를 죽인 주인공</a:t>
            </a:r>
            <a:endParaRPr lang="en-US" altLang="ko-KR" smtClean="0"/>
          </a:p>
          <a:p>
            <a:r>
              <a:rPr lang="ko-KR" altLang="en-US" smtClean="0"/>
              <a:t>쿠엔틴 타란티노</a:t>
            </a:r>
            <a:endParaRPr lang="en-US" altLang="ko-KR" smtClean="0"/>
          </a:p>
          <a:p>
            <a:pPr lvl="1"/>
            <a:r>
              <a:rPr lang="ko-KR" altLang="en-US" smtClean="0"/>
              <a:t>보스와의 싸움에서는 </a:t>
            </a:r>
            <a:r>
              <a:rPr lang="en-US" altLang="ko-KR" smtClean="0"/>
              <a:t>‘</a:t>
            </a:r>
            <a:r>
              <a:rPr lang="ko-KR" altLang="en-US" smtClean="0"/>
              <a:t>사부에게 더 인정받지 못한 사람이 죽어야 한다</a:t>
            </a:r>
            <a:r>
              <a:rPr lang="en-US" altLang="ko-KR" smtClean="0"/>
              <a:t>.’ =&gt; </a:t>
            </a:r>
            <a:r>
              <a:rPr lang="ko-KR" altLang="en-US" smtClean="0"/>
              <a:t>따라서 보스가 죽은 것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이러한 플롯들의 정의</a:t>
            </a:r>
            <a:r>
              <a:rPr lang="en-US" altLang="ko-KR" smtClean="0"/>
              <a:t>, </a:t>
            </a:r>
            <a:r>
              <a:rPr lang="ko-KR" altLang="en-US" smtClean="0"/>
              <a:t>규칙</a:t>
            </a:r>
            <a:r>
              <a:rPr lang="en-US" altLang="ko-KR" smtClean="0"/>
              <a:t>, </a:t>
            </a:r>
            <a:r>
              <a:rPr lang="ko-KR" altLang="en-US" smtClean="0"/>
              <a:t>내용을 잘 지키면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이야기는 대부분 실패하지 않는다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5460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90048"/>
            <a:ext cx="9983593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7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(7) </a:t>
            </a:r>
            <a:r>
              <a:rPr lang="ko-KR" altLang="en-US" smtClean="0"/>
              <a:t>수수께끼의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42561"/>
            <a:ext cx="10515600" cy="5184022"/>
          </a:xfrm>
        </p:spPr>
        <p:txBody>
          <a:bodyPr>
            <a:normAutofit/>
          </a:bodyPr>
          <a:lstStyle/>
          <a:p>
            <a:r>
              <a:rPr lang="ko-KR" altLang="en-US" smtClean="0"/>
              <a:t>어렵다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작가가 관객에거 </a:t>
            </a:r>
            <a:r>
              <a:rPr lang="en-US" altLang="ko-KR" smtClean="0"/>
              <a:t>‘</a:t>
            </a:r>
            <a:r>
              <a:rPr lang="ko-KR" altLang="en-US" smtClean="0"/>
              <a:t>문제를 낸다</a:t>
            </a:r>
            <a:r>
              <a:rPr lang="en-US" altLang="ko-KR" smtClean="0"/>
              <a:t>.’</a:t>
            </a:r>
          </a:p>
          <a:p>
            <a:endParaRPr lang="en-US" altLang="ko-KR"/>
          </a:p>
          <a:p>
            <a:r>
              <a:rPr lang="ko-KR" altLang="en-US" smtClean="0"/>
              <a:t>이야기의 시작부터 어렵다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문제가 출제되기 때문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문제는 </a:t>
            </a:r>
            <a:r>
              <a:rPr lang="ko-KR" altLang="en-US" smtClean="0">
                <a:solidFill>
                  <a:srgbClr val="FF0000"/>
                </a:solidFill>
              </a:rPr>
              <a:t>유형</a:t>
            </a:r>
            <a:r>
              <a:rPr lang="ko-KR" altLang="en-US" smtClean="0"/>
              <a:t>을 가진다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문제의 유형은 이야기의 처음부터 끝까지 같아야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범죄의 현장의 단서 </a:t>
            </a:r>
            <a:r>
              <a:rPr lang="en-US" altLang="ko-KR" smtClean="0"/>
              <a:t>: </a:t>
            </a:r>
            <a:r>
              <a:rPr lang="ko-KR" altLang="en-US" smtClean="0"/>
              <a:t>악당은 한 명</a:t>
            </a:r>
            <a:r>
              <a:rPr lang="en-US" altLang="ko-KR" smtClean="0"/>
              <a:t>, </a:t>
            </a:r>
            <a:r>
              <a:rPr lang="ko-KR" altLang="en-US" smtClean="0"/>
              <a:t>또는 하나의 뜻을 가진 단체</a:t>
            </a:r>
            <a:r>
              <a:rPr lang="en-US" altLang="ko-KR" smtClean="0"/>
              <a:t>, </a:t>
            </a:r>
            <a:r>
              <a:rPr lang="ko-KR" altLang="en-US" smtClean="0"/>
              <a:t>그들의 사고</a:t>
            </a:r>
            <a:r>
              <a:rPr lang="en-US" altLang="ko-KR" smtClean="0"/>
              <a:t>, </a:t>
            </a:r>
            <a:r>
              <a:rPr lang="ko-KR" altLang="en-US" smtClean="0"/>
              <a:t>생각</a:t>
            </a:r>
            <a:r>
              <a:rPr lang="en-US" altLang="ko-KR" smtClean="0"/>
              <a:t>, </a:t>
            </a:r>
            <a:r>
              <a:rPr lang="ko-KR" altLang="en-US" smtClean="0"/>
              <a:t>습성에 맞게 문제가 만들어지므로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414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수수께끼의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22246"/>
            <a:ext cx="10515600" cy="5167312"/>
          </a:xfrm>
        </p:spPr>
        <p:txBody>
          <a:bodyPr>
            <a:noAutofit/>
          </a:bodyPr>
          <a:lstStyle/>
          <a:p>
            <a:r>
              <a:rPr lang="ko-KR" altLang="en-US" sz="1600" smtClean="0"/>
              <a:t>관객은 그렇게 똑똑하지 못한 사람들도 많다</a:t>
            </a:r>
            <a:r>
              <a:rPr lang="en-US" altLang="ko-KR" sz="1600" smtClean="0"/>
              <a:t>.</a:t>
            </a:r>
          </a:p>
          <a:p>
            <a:r>
              <a:rPr lang="ko-KR" altLang="en-US" sz="1600" smtClean="0"/>
              <a:t>주인공이 문제를 풀어나가는 과정에서 관객은</a:t>
            </a:r>
            <a:r>
              <a:rPr lang="en-US" altLang="ko-KR" sz="1600" smtClean="0"/>
              <a:t>,</a:t>
            </a:r>
            <a:br>
              <a:rPr lang="en-US" altLang="ko-KR" sz="1600" smtClean="0"/>
            </a:br>
            <a:r>
              <a:rPr lang="ko-KR" altLang="en-US" sz="1600" smtClean="0"/>
              <a:t>같은 유형의 문제를 풀게 된다</a:t>
            </a:r>
            <a:r>
              <a:rPr lang="en-US" altLang="ko-KR" sz="1600" smtClean="0"/>
              <a:t>.</a:t>
            </a:r>
          </a:p>
          <a:p>
            <a:r>
              <a:rPr lang="ko-KR" altLang="en-US" sz="1600" smtClean="0"/>
              <a:t>문제의 해설을 먼저 보고</a:t>
            </a:r>
            <a:r>
              <a:rPr lang="en-US" altLang="ko-KR" sz="1600" smtClean="0"/>
              <a:t>, </a:t>
            </a:r>
            <a:r>
              <a:rPr lang="ko-KR" altLang="en-US" sz="1600" smtClean="0"/>
              <a:t>문제를 풀면 더 쉽게 풀 수 있으므로</a:t>
            </a:r>
            <a:r>
              <a:rPr lang="en-US" altLang="ko-KR" sz="1600" smtClean="0"/>
              <a:t>.</a:t>
            </a:r>
            <a:endParaRPr lang="en-US" altLang="ko-KR" sz="1600"/>
          </a:p>
          <a:p>
            <a:endParaRPr lang="en-US" altLang="ko-KR" sz="1600" smtClean="0"/>
          </a:p>
          <a:p>
            <a:r>
              <a:rPr lang="ko-KR" altLang="en-US" sz="1600" smtClean="0"/>
              <a:t>수수께끼의 플롯은 문제의 유형을 관리해야 한다</a:t>
            </a:r>
            <a:r>
              <a:rPr lang="en-US" altLang="ko-KR" sz="1600" smtClean="0"/>
              <a:t>.</a:t>
            </a:r>
          </a:p>
          <a:p>
            <a:r>
              <a:rPr lang="ko-KR" altLang="en-US" sz="1600" smtClean="0"/>
              <a:t>아무리 문제가 어려워도</a:t>
            </a:r>
            <a:r>
              <a:rPr lang="en-US" altLang="ko-KR" sz="1600" smtClean="0"/>
              <a:t>, </a:t>
            </a:r>
            <a:r>
              <a:rPr lang="ko-KR" altLang="en-US" sz="1600" smtClean="0"/>
              <a:t>주인공이 관객과 함께 문제를 풀어나가야 하므로</a:t>
            </a:r>
            <a:r>
              <a:rPr lang="en-US" altLang="ko-KR" sz="1600" smtClean="0"/>
              <a:t>.</a:t>
            </a:r>
          </a:p>
          <a:p>
            <a:endParaRPr lang="en-US" altLang="ko-KR" sz="1600"/>
          </a:p>
          <a:p>
            <a:r>
              <a:rPr lang="ko-KR" altLang="en-US" sz="1600" smtClean="0"/>
              <a:t>첫 번째 문제는</a:t>
            </a:r>
            <a:r>
              <a:rPr lang="en-US" altLang="ko-KR" sz="1600" smtClean="0"/>
              <a:t>, </a:t>
            </a:r>
            <a:r>
              <a:rPr lang="ko-KR" altLang="en-US" sz="1600" smtClean="0"/>
              <a:t>너무 어려워도 된다</a:t>
            </a:r>
            <a:r>
              <a:rPr lang="en-US" altLang="ko-KR" sz="1600" smtClean="0"/>
              <a:t>. </a:t>
            </a:r>
            <a:r>
              <a:rPr lang="ko-KR" altLang="en-US" sz="1600" smtClean="0"/>
              <a:t>조력자의 도움이나 여러 힌트를 통해 주인공과 관객이 풀게 하면 되므로</a:t>
            </a:r>
            <a:r>
              <a:rPr lang="en-US" altLang="ko-KR" sz="1600" smtClean="0"/>
              <a:t>.</a:t>
            </a:r>
          </a:p>
          <a:p>
            <a:r>
              <a:rPr lang="ko-KR" altLang="en-US" sz="1600" smtClean="0"/>
              <a:t>이후의 문제들은 같은 유형의 문제로 내야 하며</a:t>
            </a:r>
            <a:r>
              <a:rPr lang="en-US" altLang="ko-KR" sz="1600" smtClean="0"/>
              <a:t>,</a:t>
            </a:r>
          </a:p>
          <a:p>
            <a:r>
              <a:rPr lang="ko-KR" altLang="en-US" sz="1600" smtClean="0"/>
              <a:t>마지막 문제는 </a:t>
            </a:r>
            <a:r>
              <a:rPr lang="en-US" altLang="ko-KR" sz="1600" smtClean="0"/>
              <a:t>‘</a:t>
            </a:r>
            <a:r>
              <a:rPr lang="ko-KR" altLang="en-US" sz="1600" smtClean="0"/>
              <a:t>출제자의 의도보다 더 빠르고 더 쉽게</a:t>
            </a:r>
            <a:r>
              <a:rPr lang="en-US" altLang="ko-KR" sz="1600" smtClean="0"/>
              <a:t>’ </a:t>
            </a:r>
            <a:r>
              <a:rPr lang="ko-KR" altLang="en-US" sz="1600" smtClean="0"/>
              <a:t>풀어야 한다</a:t>
            </a:r>
            <a:r>
              <a:rPr lang="en-US" altLang="ko-KR" sz="1600" smtClean="0"/>
              <a:t>.</a:t>
            </a:r>
          </a:p>
          <a:p>
            <a:r>
              <a:rPr lang="ko-KR" altLang="en-US" sz="1600" smtClean="0"/>
              <a:t>악당을 물리쳐야 하므로</a:t>
            </a:r>
            <a:r>
              <a:rPr lang="en-US" altLang="ko-KR" sz="1600" smtClean="0"/>
              <a:t>. </a:t>
            </a:r>
          </a:p>
          <a:p>
            <a:endParaRPr lang="en-US" altLang="ko-KR" sz="1600"/>
          </a:p>
          <a:p>
            <a:r>
              <a:rPr lang="ko-KR" altLang="en-US" sz="1600" smtClean="0"/>
              <a:t>대부분의 보물을 찾는 이야기는</a:t>
            </a:r>
            <a:r>
              <a:rPr lang="en-US" altLang="ko-KR" sz="1600" smtClean="0"/>
              <a:t>, </a:t>
            </a:r>
            <a:r>
              <a:rPr lang="ko-KR" altLang="en-US" sz="1600" smtClean="0"/>
              <a:t>문제를 내는 사람이 악당이 아니라</a:t>
            </a:r>
            <a:r>
              <a:rPr lang="en-US" altLang="ko-KR" sz="1600" smtClean="0"/>
              <a:t>, </a:t>
            </a:r>
            <a:r>
              <a:rPr lang="ko-KR" altLang="en-US" sz="1600" smtClean="0"/>
              <a:t>같이 보물을 찾는 사람 중 한 명이다</a:t>
            </a:r>
            <a:r>
              <a:rPr lang="en-US" altLang="ko-KR" sz="1600" smtClean="0"/>
              <a:t>.</a:t>
            </a:r>
          </a:p>
          <a:p>
            <a:endParaRPr lang="en-US" altLang="ko-KR" sz="1600"/>
          </a:p>
          <a:p>
            <a:r>
              <a:rPr lang="ko-KR" altLang="en-US" sz="1600" smtClean="0"/>
              <a:t>하나의 보물</a:t>
            </a:r>
            <a:r>
              <a:rPr lang="en-US" altLang="ko-KR" sz="1600" smtClean="0"/>
              <a:t>, </a:t>
            </a:r>
            <a:r>
              <a:rPr lang="ko-KR" altLang="en-US" sz="1600" smtClean="0"/>
              <a:t>하나의 문제 유형</a:t>
            </a:r>
            <a:r>
              <a:rPr lang="en-US" altLang="ko-KR" sz="1600" smtClean="0"/>
              <a:t>, </a:t>
            </a:r>
            <a:r>
              <a:rPr lang="ko-KR" altLang="en-US" sz="1600" smtClean="0"/>
              <a:t>하나의 악당</a:t>
            </a:r>
            <a:r>
              <a:rPr lang="en-US" altLang="ko-KR" sz="1600" smtClean="0"/>
              <a:t>(</a:t>
            </a:r>
            <a:r>
              <a:rPr lang="ko-KR" altLang="en-US" sz="1600" smtClean="0"/>
              <a:t>단체</a:t>
            </a:r>
            <a:r>
              <a:rPr lang="en-US" altLang="ko-KR" sz="1600" smtClean="0"/>
              <a:t>)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772544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661601"/>
            <a:ext cx="11241069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42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85258"/>
            <a:ext cx="9935962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505</Words>
  <Application>Microsoft Office PowerPoint</Application>
  <PresentationFormat>와이드스크린</PresentationFormat>
  <Paragraphs>96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(6) 복수의 플롯 - [신의한수]</vt:lpstr>
      <vt:lpstr>[신의 한수]</vt:lpstr>
      <vt:lpstr>복수의 플롯 단계</vt:lpstr>
      <vt:lpstr>세계 최고의 복수의 플롯 – [킬빌]</vt:lpstr>
      <vt:lpstr>[킬빌] – 복수 준비</vt:lpstr>
      <vt:lpstr>[킬빌] – 야쿠자 보스에게 복수</vt:lpstr>
      <vt:lpstr>[킬빌2] – 도입</vt:lpstr>
      <vt:lpstr>[킬빌2] – 보스의 남동생에게 복수</vt:lpstr>
      <vt:lpstr>[킬빌2] – 보스에게 복수</vt:lpstr>
      <vt:lpstr>PowerPoint 프레젠테이션</vt:lpstr>
      <vt:lpstr>(7) 수수께끼의 플롯</vt:lpstr>
      <vt:lpstr>수수께끼의 플롯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(7) 수수께끼의 플롯</dc:title>
  <dc:creator>FullName</dc:creator>
  <cp:lastModifiedBy>FullName</cp:lastModifiedBy>
  <cp:revision>14</cp:revision>
  <dcterms:created xsi:type="dcterms:W3CDTF">2026-03-24T04:51:52Z</dcterms:created>
  <dcterms:modified xsi:type="dcterms:W3CDTF">2026-03-24T06:49:21Z</dcterms:modified>
</cp:coreProperties>
</file>