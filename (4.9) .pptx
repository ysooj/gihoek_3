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1" r:id="rId5"/>
    <p:sldId id="259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DCF"/>
    <a:srgbClr val="FFFFFF"/>
    <a:srgbClr val="FE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0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51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623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11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953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60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83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11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79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66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70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159E5-879B-4E96-B867-DCC64BA901DE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8A36A-941E-4FF0-9732-532FD1F1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73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등장인물 관계도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구글에 </a:t>
            </a:r>
            <a:r>
              <a:rPr lang="en-US" altLang="ko-KR" smtClean="0"/>
              <a:t>‘</a:t>
            </a:r>
            <a:r>
              <a:rPr lang="ko-KR" altLang="en-US" smtClean="0"/>
              <a:t>드라마 인물 관계도</a:t>
            </a:r>
            <a:r>
              <a:rPr lang="en-US" altLang="ko-KR" smtClean="0"/>
              <a:t>＇</a:t>
            </a:r>
            <a:r>
              <a:rPr lang="ko-KR" altLang="en-US" smtClean="0"/>
              <a:t>라고 검색해서</a:t>
            </a:r>
            <a:endParaRPr lang="en-US" altLang="ko-KR" smtClean="0"/>
          </a:p>
          <a:p>
            <a:r>
              <a:rPr lang="ko-KR" altLang="en-US" smtClean="0"/>
              <a:t>원하는 인물 관계도를 가져온 후</a:t>
            </a:r>
            <a:endParaRPr lang="en-US" altLang="ko-KR" smtClean="0"/>
          </a:p>
          <a:p>
            <a:r>
              <a:rPr lang="ko-KR" altLang="en-US" smtClean="0"/>
              <a:t>내 게임에 맞게 만들어보기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773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굿와이프' 인물관계도 공개 전도연, 유지태와는 부부…윤계상과 우정, 나나와 여여케미 '기대' - 뉴스핌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" b="48399"/>
          <a:stretch/>
        </p:blipFill>
        <p:spPr bwMode="auto">
          <a:xfrm>
            <a:off x="2501795" y="405657"/>
            <a:ext cx="6249014" cy="542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t="1" r="703" b="14884"/>
          <a:stretch/>
        </p:blipFill>
        <p:spPr>
          <a:xfrm>
            <a:off x="2501795" y="405657"/>
            <a:ext cx="6249014" cy="5424894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3584447" y="4251169"/>
            <a:ext cx="1170603" cy="1170603"/>
          </a:xfrm>
          <a:prstGeom prst="ellipse">
            <a:avLst/>
          </a:prstGeom>
          <a:solidFill>
            <a:srgbClr val="CCC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5004424" y="4251169"/>
            <a:ext cx="1170603" cy="1170603"/>
          </a:xfrm>
          <a:prstGeom prst="ellipse">
            <a:avLst/>
          </a:prstGeom>
          <a:solidFill>
            <a:srgbClr val="CCC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6396969" y="4251168"/>
            <a:ext cx="1170603" cy="1170603"/>
          </a:xfrm>
          <a:prstGeom prst="ellipse">
            <a:avLst/>
          </a:prstGeom>
          <a:solidFill>
            <a:srgbClr val="CCC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2843783" y="2718573"/>
            <a:ext cx="1170603" cy="1170603"/>
          </a:xfrm>
          <a:prstGeom prst="ellipse">
            <a:avLst/>
          </a:prstGeom>
          <a:solidFill>
            <a:srgbClr val="CCC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7181699" y="2601224"/>
            <a:ext cx="1170603" cy="1170603"/>
          </a:xfrm>
          <a:prstGeom prst="ellipse">
            <a:avLst/>
          </a:prstGeom>
          <a:solidFill>
            <a:srgbClr val="CCC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4580972" y="778137"/>
            <a:ext cx="2030140" cy="2030140"/>
          </a:xfrm>
          <a:prstGeom prst="ellipse">
            <a:avLst/>
          </a:prstGeom>
          <a:solidFill>
            <a:srgbClr val="CCC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849061" y="2853690"/>
            <a:ext cx="14813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smtClean="0">
                <a:solidFill>
                  <a:srgbClr val="FEFEFF"/>
                </a:solidFill>
              </a:rPr>
              <a:t>차한해</a:t>
            </a:r>
            <a:endParaRPr lang="ko-KR" altLang="en-US" sz="1500">
              <a:solidFill>
                <a:srgbClr val="FEFE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94343" y="2134021"/>
            <a:ext cx="14813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smtClean="0">
                <a:solidFill>
                  <a:srgbClr val="FEFEFF"/>
                </a:solidFill>
              </a:rPr>
              <a:t>차우선</a:t>
            </a:r>
            <a:endParaRPr lang="ko-KR" altLang="en-US" sz="1500">
              <a:solidFill>
                <a:srgbClr val="FEFE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26336" y="2019533"/>
            <a:ext cx="14813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smtClean="0">
                <a:solidFill>
                  <a:srgbClr val="FEFEFF"/>
                </a:solidFill>
              </a:rPr>
              <a:t>서주안</a:t>
            </a:r>
            <a:endParaRPr lang="ko-KR" altLang="en-US" sz="1500">
              <a:solidFill>
                <a:srgbClr val="FEFE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57378" y="3676254"/>
            <a:ext cx="14813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smtClean="0">
                <a:solidFill>
                  <a:srgbClr val="FEFEFF"/>
                </a:solidFill>
              </a:rPr>
              <a:t>이용익</a:t>
            </a:r>
            <a:endParaRPr lang="ko-KR" altLang="en-US" sz="1500">
              <a:solidFill>
                <a:srgbClr val="FEFE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29084" y="3679147"/>
            <a:ext cx="14813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smtClean="0">
                <a:solidFill>
                  <a:srgbClr val="FEFEFF"/>
                </a:solidFill>
              </a:rPr>
              <a:t>강재준</a:t>
            </a:r>
            <a:endParaRPr lang="ko-KR" altLang="en-US" sz="1500">
              <a:solidFill>
                <a:srgbClr val="FEFE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41606" y="3673741"/>
            <a:ext cx="14813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smtClean="0">
                <a:solidFill>
                  <a:srgbClr val="FEFEFF"/>
                </a:solidFill>
              </a:rPr>
              <a:t>괴물</a:t>
            </a:r>
            <a:endParaRPr lang="ko-KR" altLang="en-US" sz="1500">
              <a:solidFill>
                <a:srgbClr val="FEFE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57378" y="3168513"/>
            <a:ext cx="1481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EFEFF"/>
                </a:solidFill>
              </a:rPr>
              <a:t>주인공</a:t>
            </a:r>
            <a:endParaRPr lang="ko-KR" altLang="en-US" sz="1000">
              <a:solidFill>
                <a:srgbClr val="FEFE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94343" y="2456573"/>
            <a:ext cx="1481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EFEFF"/>
                </a:solidFill>
              </a:rPr>
              <a:t>동생</a:t>
            </a:r>
            <a:endParaRPr lang="ko-KR" altLang="en-US" sz="1000">
              <a:solidFill>
                <a:srgbClr val="FEFE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26336" y="2345478"/>
            <a:ext cx="1481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EFEFF"/>
                </a:solidFill>
              </a:rPr>
              <a:t>친구</a:t>
            </a:r>
            <a:endParaRPr lang="ko-KR" altLang="en-US" sz="1000">
              <a:solidFill>
                <a:srgbClr val="FEFE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429084" y="4003191"/>
            <a:ext cx="1481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EFEFF"/>
                </a:solidFill>
              </a:rPr>
              <a:t>시위단체</a:t>
            </a:r>
            <a:r>
              <a:rPr lang="en-US" altLang="ko-KR" sz="1000" smtClean="0">
                <a:solidFill>
                  <a:srgbClr val="FEFEFF"/>
                </a:solidFill>
              </a:rPr>
              <a:t> </a:t>
            </a:r>
            <a:r>
              <a:rPr lang="ko-KR" altLang="en-US" sz="1000" smtClean="0">
                <a:solidFill>
                  <a:srgbClr val="FEFEFF"/>
                </a:solidFill>
              </a:rPr>
              <a:t>장</a:t>
            </a:r>
            <a:endParaRPr lang="ko-KR" altLang="en-US" sz="1000">
              <a:solidFill>
                <a:srgbClr val="FEFE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35345" y="4003191"/>
            <a:ext cx="1481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EFEFF"/>
                </a:solidFill>
              </a:rPr>
              <a:t>국회의원</a:t>
            </a:r>
            <a:endParaRPr lang="ko-KR" altLang="en-US" sz="1000">
              <a:solidFill>
                <a:srgbClr val="FEFE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56236" y="4005519"/>
            <a:ext cx="1481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EFEFF"/>
                </a:solidFill>
              </a:rPr>
              <a:t>인간의 변이</a:t>
            </a:r>
            <a:endParaRPr lang="ko-KR" altLang="en-US" sz="1000">
              <a:solidFill>
                <a:srgbClr val="FEFEFF"/>
              </a:solidFill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4014386" y="2458879"/>
            <a:ext cx="727871" cy="452230"/>
          </a:xfrm>
          <a:prstGeom prst="straightConnector1">
            <a:avLst/>
          </a:prstGeom>
          <a:ln w="254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H="1" flipV="1">
            <a:off x="6556596" y="2300498"/>
            <a:ext cx="691930" cy="492585"/>
          </a:xfrm>
          <a:prstGeom prst="straightConnector1">
            <a:avLst/>
          </a:prstGeom>
          <a:ln w="254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449203" y="2468178"/>
            <a:ext cx="1481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EFEFF"/>
                </a:solidFill>
              </a:rPr>
              <a:t>차별</a:t>
            </a:r>
            <a:endParaRPr lang="ko-KR" altLang="en-US" sz="1000">
              <a:solidFill>
                <a:srgbClr val="FEFEFF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29564" y="2365526"/>
            <a:ext cx="1481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EFEFF"/>
                </a:solidFill>
              </a:rPr>
              <a:t>이해</a:t>
            </a:r>
            <a:endParaRPr lang="ko-KR" altLang="en-US" sz="1000">
              <a:solidFill>
                <a:srgbClr val="FEFE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55607" y="3021928"/>
            <a:ext cx="1481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EFEFF"/>
                </a:solidFill>
              </a:rPr>
              <a:t>전투</a:t>
            </a:r>
            <a:endParaRPr lang="ko-KR" altLang="en-US" sz="1000">
              <a:solidFill>
                <a:srgbClr val="FEFEFF"/>
              </a:solidFill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 flipH="1" flipV="1">
            <a:off x="6168630" y="2718573"/>
            <a:ext cx="621154" cy="946556"/>
          </a:xfrm>
          <a:prstGeom prst="straightConnector1">
            <a:avLst/>
          </a:prstGeom>
          <a:ln w="254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25" idx="0"/>
            <a:endCxn id="28" idx="2"/>
          </p:cNvCxnSpPr>
          <p:nvPr/>
        </p:nvCxnSpPr>
        <p:spPr>
          <a:xfrm flipV="1">
            <a:off x="5598042" y="3414734"/>
            <a:ext cx="0" cy="261520"/>
          </a:xfrm>
          <a:prstGeom prst="straightConnector1">
            <a:avLst/>
          </a:prstGeom>
          <a:ln w="254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 flipV="1">
            <a:off x="4491002" y="2755537"/>
            <a:ext cx="555686" cy="923611"/>
          </a:xfrm>
          <a:prstGeom prst="straightConnector1">
            <a:avLst/>
          </a:prstGeom>
          <a:ln w="254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109841" y="3441158"/>
            <a:ext cx="1481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EFEFF"/>
                </a:solidFill>
              </a:rPr>
              <a:t>착취</a:t>
            </a:r>
            <a:endParaRPr lang="ko-KR" altLang="en-US" sz="1000">
              <a:solidFill>
                <a:srgbClr val="FEFEFF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831421" y="3021928"/>
            <a:ext cx="1481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EFEFF"/>
                </a:solidFill>
              </a:rPr>
              <a:t>강요</a:t>
            </a:r>
            <a:endParaRPr lang="ko-KR" altLang="en-US" sz="1000">
              <a:solidFill>
                <a:srgbClr val="FEFEFF"/>
              </a:solidFill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75" b="99859" l="9920" r="89544">
                        <a14:foregroundMark x1="41689" y1="5642" x2="41689" y2="5642"/>
                        <a14:foregroundMark x1="46247" y1="1975" x2="46247" y2="1975"/>
                        <a14:foregroundMark x1="26408" y1="78420" x2="26408" y2="78420"/>
                        <a14:foregroundMark x1="34987" y1="69111" x2="19303" y2="84908"/>
                        <a14:foregroundMark x1="37265" y1="72638" x2="26139" y2="91537"/>
                        <a14:foregroundMark x1="30161" y1="83216" x2="78418" y2="95910"/>
                        <a14:foregroundMark x1="57373" y1="70522" x2="89678" y2="93512"/>
                        <a14:foregroundMark x1="25737" y1="90550" x2="65550" y2="99859"/>
                        <a14:foregroundMark x1="36461" y1="87447" x2="58579" y2="93653"/>
                        <a14:backgroundMark x1="61126" y1="65585" x2="61126" y2="65585"/>
                        <a14:backgroundMark x1="63941" y1="65867" x2="63941" y2="65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86780" y="877551"/>
            <a:ext cx="2030400" cy="1929696"/>
          </a:xfrm>
          <a:prstGeom prst="ellipse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0831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2" descr="굿와이프' 인물관계도 공개 전도연, 유지태와는 부부…윤계상과 우정, 나나와 여여케미 '기대' - 뉴스핌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" b="48399"/>
          <a:stretch/>
        </p:blipFill>
        <p:spPr bwMode="auto">
          <a:xfrm>
            <a:off x="2501795" y="405657"/>
            <a:ext cx="6249014" cy="542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72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857255" y="646838"/>
            <a:ext cx="10477495" cy="565016"/>
          </a:xfrm>
          <a:prstGeom prst="roundRect">
            <a:avLst>
              <a:gd name="adj" fmla="val 4987"/>
            </a:avLst>
          </a:prstGeom>
          <a:solidFill>
            <a:srgbClr val="6A8C5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857256" y="2408671"/>
          <a:ext cx="10477494" cy="17244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6249">
                  <a:extLst>
                    <a:ext uri="{9D8B030D-6E8A-4147-A177-3AD203B41FA5}">
                      <a16:colId xmlns:a16="http://schemas.microsoft.com/office/drawing/2014/main" val="782886320"/>
                    </a:ext>
                  </a:extLst>
                </a:gridCol>
                <a:gridCol w="1746249">
                  <a:extLst>
                    <a:ext uri="{9D8B030D-6E8A-4147-A177-3AD203B41FA5}">
                      <a16:colId xmlns:a16="http://schemas.microsoft.com/office/drawing/2014/main" val="1954678976"/>
                    </a:ext>
                  </a:extLst>
                </a:gridCol>
                <a:gridCol w="1746249">
                  <a:extLst>
                    <a:ext uri="{9D8B030D-6E8A-4147-A177-3AD203B41FA5}">
                      <a16:colId xmlns:a16="http://schemas.microsoft.com/office/drawing/2014/main" val="2904952507"/>
                    </a:ext>
                  </a:extLst>
                </a:gridCol>
                <a:gridCol w="1746249">
                  <a:extLst>
                    <a:ext uri="{9D8B030D-6E8A-4147-A177-3AD203B41FA5}">
                      <a16:colId xmlns:a16="http://schemas.microsoft.com/office/drawing/2014/main" val="1855658925"/>
                    </a:ext>
                  </a:extLst>
                </a:gridCol>
                <a:gridCol w="1746249">
                  <a:extLst>
                    <a:ext uri="{9D8B030D-6E8A-4147-A177-3AD203B41FA5}">
                      <a16:colId xmlns:a16="http://schemas.microsoft.com/office/drawing/2014/main" val="3808112026"/>
                    </a:ext>
                  </a:extLst>
                </a:gridCol>
                <a:gridCol w="1746249">
                  <a:extLst>
                    <a:ext uri="{9D8B030D-6E8A-4147-A177-3AD203B41FA5}">
                      <a16:colId xmlns:a16="http://schemas.microsoft.com/office/drawing/2014/main" val="677898891"/>
                    </a:ext>
                  </a:extLst>
                </a:gridCol>
              </a:tblGrid>
              <a:tr h="394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차한해</a:t>
                      </a:r>
                      <a:endParaRPr lang="ko-KR" altLang="en-US" sz="15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solidFill>
                      <a:srgbClr val="6A8C5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차우선</a:t>
                      </a:r>
                      <a:endParaRPr lang="ko-KR" altLang="en-US" sz="15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solidFill>
                      <a:srgbClr val="6A8C5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서주안</a:t>
                      </a:r>
                      <a:endParaRPr lang="ko-KR" altLang="en-US" sz="15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solidFill>
                      <a:srgbClr val="6A8C5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강재준</a:t>
                      </a:r>
                      <a:endParaRPr lang="ko-KR" altLang="en-US" sz="15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solidFill>
                      <a:srgbClr val="6A8C5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이용익</a:t>
                      </a:r>
                      <a:endParaRPr lang="ko-KR" altLang="en-US" sz="15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solidFill>
                      <a:srgbClr val="6A8C5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괴물</a:t>
                      </a:r>
                      <a:endParaRPr lang="ko-KR" altLang="en-US" sz="15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solidFill>
                      <a:srgbClr val="6A8C5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34688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주인공</a:t>
                      </a:r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동생</a:t>
                      </a:r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친구</a:t>
                      </a:r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요청 → 의존 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→ 압박</a:t>
                      </a:r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구조 정당화</a:t>
                      </a:r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전투 대상</a:t>
                      </a:r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427158"/>
                  </a:ext>
                </a:extLst>
              </a:tr>
              <a:tr h="882015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000" smtClean="0">
                          <a:solidFill>
                            <a:srgbClr val="6A8C5B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무한에 가까운 선의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를 지닌 소녀</a:t>
                      </a:r>
                      <a:r>
                        <a:rPr lang="en-US" altLang="ko-KR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.</a:t>
                      </a:r>
                    </a:p>
                    <a:p>
                      <a:pPr algn="just" latinLnBrk="1"/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유일한 해결 수단</a:t>
                      </a:r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주인공을 </a:t>
                      </a:r>
                      <a:r>
                        <a:rPr lang="ko-KR" altLang="en-US" sz="1000" smtClean="0">
                          <a:solidFill>
                            <a:srgbClr val="6A8C5B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가족 자산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으로 인식</a:t>
                      </a:r>
                      <a:endParaRPr lang="en-US" altLang="ko-KR" sz="1000" dirty="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구조의 문제를 인식하고</a:t>
                      </a:r>
                      <a:endParaRPr lang="en-US" altLang="ko-KR" sz="1000" smtClean="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altLang="ko-KR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‘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스스로를 챙겨야 함</a:t>
                      </a:r>
                      <a:r>
                        <a:rPr lang="en-US" altLang="ko-KR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’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을 인식시키는 </a:t>
                      </a:r>
                      <a:r>
                        <a:rPr lang="ko-KR" altLang="en-US" sz="1000" smtClean="0">
                          <a:solidFill>
                            <a:srgbClr val="6A8C5B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유일한 공감자 </a:t>
                      </a:r>
                      <a:endParaRPr lang="en-US" altLang="ko-KR" sz="1000" smtClean="0">
                        <a:solidFill>
                          <a:srgbClr val="6A8C5B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  <a:p>
                      <a:pPr algn="just" latinLnBrk="1"/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>
                          <a:solidFill>
                            <a:srgbClr val="6A8C5B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책임 전가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를 통해 점차 주인공을 압박</a:t>
                      </a:r>
                      <a:endParaRPr lang="en-US" altLang="ko-KR" sz="1000" smtClean="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희생을 </a:t>
                      </a:r>
                      <a:r>
                        <a:rPr lang="ko-KR" altLang="en-US" sz="1000" smtClean="0">
                          <a:solidFill>
                            <a:srgbClr val="6A8C5B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공익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으로 강요하는 정부</a:t>
                      </a:r>
                      <a:endParaRPr lang="en-US" altLang="ko-KR" sz="1000" smtClean="0">
                        <a:solidFill>
                          <a:srgbClr val="6A8C5B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선의가 붕괴된 인간이 </a:t>
                      </a:r>
                      <a:r>
                        <a:rPr lang="ko-KR" altLang="en-US" sz="1000" smtClean="0">
                          <a:solidFill>
                            <a:srgbClr val="6A8C5B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변이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한 결과</a:t>
                      </a:r>
                      <a:endParaRPr lang="en-US" altLang="ko-KR" sz="1000" smtClean="0">
                        <a:solidFill>
                          <a:srgbClr val="6A8C5B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2216706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6728056B-BEBB-68E3-2F94-38A515EAFBB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3871" y1="36364" x2="33871" y2="36364"/>
                        <a14:foregroundMark x1="64516" y1="37879" x2="64516" y2="378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0579" y="1778870"/>
            <a:ext cx="590632" cy="628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DEBDE5-9B68-659F-10C7-D48D1EE7DD3A}"/>
              </a:ext>
            </a:extLst>
          </p:cNvPr>
          <p:cNvSpPr txBox="1"/>
          <p:nvPr/>
        </p:nvSpPr>
        <p:spPr>
          <a:xfrm>
            <a:off x="1233664" y="1931657"/>
            <a:ext cx="3068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등장 인물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001C90-DB7E-A873-30BC-6541E1880A2F}"/>
              </a:ext>
            </a:extLst>
          </p:cNvPr>
          <p:cNvSpPr txBox="1"/>
          <p:nvPr/>
        </p:nvSpPr>
        <p:spPr>
          <a:xfrm>
            <a:off x="2635135" y="735912"/>
            <a:ext cx="6444651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끝없는 선의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를 지닌 소녀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차한해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 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내어줄수록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다른 끝을 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마주한다</a:t>
            </a:r>
            <a:r>
              <a:rPr lang="en-US" altLang="ko-KR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 </a:t>
            </a:r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그 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끝은 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누구의 선택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일까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  <a:endParaRPr lang="ko-KR" altLang="en-US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463C8D8-4B44-84C8-1F38-72FAE7866C2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434" y="687911"/>
            <a:ext cx="362001" cy="4858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7C8B85-AF1B-E51F-458D-C78E38615DE9}"/>
              </a:ext>
            </a:extLst>
          </p:cNvPr>
          <p:cNvSpPr txBox="1"/>
          <p:nvPr/>
        </p:nvSpPr>
        <p:spPr>
          <a:xfrm>
            <a:off x="1349260" y="745437"/>
            <a:ext cx="3068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시놉시스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DEBDE5-9B68-659F-10C7-D48D1EE7DD3A}"/>
              </a:ext>
            </a:extLst>
          </p:cNvPr>
          <p:cNvSpPr txBox="1"/>
          <p:nvPr/>
        </p:nvSpPr>
        <p:spPr>
          <a:xfrm>
            <a:off x="1233664" y="4760363"/>
            <a:ext cx="3068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등장 </a:t>
            </a:r>
            <a:r>
              <a:rPr lang="ko-KR" altLang="en-US" sz="1500" b="1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무대</a:t>
            </a:r>
            <a:endParaRPr lang="ko-KR" altLang="en-US" sz="1500" b="1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857254" y="5236314"/>
          <a:ext cx="10477495" cy="9930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5499">
                  <a:extLst>
                    <a:ext uri="{9D8B030D-6E8A-4147-A177-3AD203B41FA5}">
                      <a16:colId xmlns:a16="http://schemas.microsoft.com/office/drawing/2014/main" val="2181221540"/>
                    </a:ext>
                  </a:extLst>
                </a:gridCol>
                <a:gridCol w="2095499">
                  <a:extLst>
                    <a:ext uri="{9D8B030D-6E8A-4147-A177-3AD203B41FA5}">
                      <a16:colId xmlns:a16="http://schemas.microsoft.com/office/drawing/2014/main" val="1514074370"/>
                    </a:ext>
                  </a:extLst>
                </a:gridCol>
                <a:gridCol w="2095499">
                  <a:extLst>
                    <a:ext uri="{9D8B030D-6E8A-4147-A177-3AD203B41FA5}">
                      <a16:colId xmlns:a16="http://schemas.microsoft.com/office/drawing/2014/main" val="1625472092"/>
                    </a:ext>
                  </a:extLst>
                </a:gridCol>
                <a:gridCol w="2095499">
                  <a:extLst>
                    <a:ext uri="{9D8B030D-6E8A-4147-A177-3AD203B41FA5}">
                      <a16:colId xmlns:a16="http://schemas.microsoft.com/office/drawing/2014/main" val="3639602874"/>
                    </a:ext>
                  </a:extLst>
                </a:gridCol>
                <a:gridCol w="2095499">
                  <a:extLst>
                    <a:ext uri="{9D8B030D-6E8A-4147-A177-3AD203B41FA5}">
                      <a16:colId xmlns:a16="http://schemas.microsoft.com/office/drawing/2014/main" val="3986393162"/>
                    </a:ext>
                  </a:extLst>
                </a:gridCol>
              </a:tblGrid>
              <a:tr h="477468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세계 구조</a:t>
                      </a:r>
                      <a:endParaRPr lang="en-US" altLang="ko-KR" sz="1500" smtClean="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solidFill>
                            <a:srgbClr val="6A8C5B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다수의 책임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→</a:t>
                      </a:r>
                      <a:r>
                        <a:rPr lang="ko-KR" altLang="en-US" sz="1000" smtClean="0">
                          <a:solidFill>
                            <a:srgbClr val="6A8C5B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 단일 책임</a:t>
                      </a:r>
                      <a:endParaRPr lang="en-US" altLang="ko-KR" sz="1000" smtClean="0">
                        <a:solidFill>
                          <a:srgbClr val="6A8C5B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solidFill>
                      <a:srgbClr val="6A8C5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주인공의 집</a:t>
                      </a:r>
                    </a:p>
                  </a:txBody>
                  <a:tcPr anchor="ctr">
                    <a:solidFill>
                      <a:srgbClr val="6A8C5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도시 중심 </a:t>
                      </a:r>
                      <a:r>
                        <a:rPr lang="en-US" altLang="ko-KR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(</a:t>
                      </a:r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거점</a:t>
                      </a:r>
                      <a:r>
                        <a:rPr lang="en-US" altLang="ko-KR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)</a:t>
                      </a:r>
                      <a:endParaRPr lang="ko-KR" altLang="en-US" sz="15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solidFill>
                      <a:srgbClr val="6A8C5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정치 기관</a:t>
                      </a:r>
                    </a:p>
                  </a:txBody>
                  <a:tcPr anchor="ctr">
                    <a:solidFill>
                      <a:srgbClr val="6A8C5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사건 발생 구역</a:t>
                      </a:r>
                    </a:p>
                  </a:txBody>
                  <a:tcPr anchor="ctr">
                    <a:solidFill>
                      <a:srgbClr val="6A8C5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77537"/>
                  </a:ext>
                </a:extLst>
              </a:tr>
              <a:tr h="5155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사적 영역의 착취</a:t>
                      </a:r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강화 </a:t>
                      </a:r>
                      <a:r>
                        <a:rPr lang="en-US" altLang="ko-KR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/ 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장비 </a:t>
                      </a:r>
                      <a:r>
                        <a:rPr lang="en-US" altLang="ko-KR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/ 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준비</a:t>
                      </a:r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호출 </a:t>
                      </a:r>
                      <a:r>
                        <a:rPr lang="en-US" altLang="ko-KR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/ 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명령 </a:t>
                      </a:r>
                      <a:r>
                        <a:rPr lang="en-US" altLang="ko-KR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– 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착취의 공식화</a:t>
                      </a:r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균열 발생 </a:t>
                      </a:r>
                      <a:r>
                        <a:rPr lang="en-US" altLang="ko-KR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/ </a:t>
                      </a:r>
                      <a:r>
                        <a:rPr lang="ko-KR" altLang="en-US" sz="1000" smtClean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변이 확산</a:t>
                      </a:r>
                      <a:endParaRPr lang="ko-KR" altLang="en-US" sz="100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714696"/>
                  </a:ext>
                </a:extLst>
              </a:tr>
            </a:tbl>
          </a:graphicData>
        </a:graphic>
      </p:graphicFrame>
      <p:pic>
        <p:nvPicPr>
          <p:cNvPr id="20" name="그림 19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4184" y="4730249"/>
            <a:ext cx="339855" cy="40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0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김서형 '종이달', 인물 관계도 공개…이시우와 은밀한 분위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364" y="541421"/>
            <a:ext cx="523875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979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월드맵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월드맵에서 랜드마크만</a:t>
            </a:r>
            <a:r>
              <a:rPr lang="en-US" altLang="ko-KR" smtClean="0"/>
              <a:t>(</a:t>
            </a:r>
            <a:r>
              <a:rPr lang="ko-KR" altLang="en-US" smtClean="0"/>
              <a:t>지저분하지 않게</a:t>
            </a:r>
            <a:r>
              <a:rPr lang="en-US" altLang="ko-KR" smtClean="0"/>
              <a:t>)</a:t>
            </a:r>
          </a:p>
          <a:p>
            <a:endParaRPr lang="en-US" altLang="ko-KR" smtClean="0"/>
          </a:p>
          <a:p>
            <a:r>
              <a:rPr lang="en-US" altLang="ko-KR" smtClean="0"/>
              <a:t>[</a:t>
            </a:r>
            <a:r>
              <a:rPr lang="ko-KR" altLang="en-US" smtClean="0"/>
              <a:t>맵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상황의 기차칸처럼 나열</a:t>
            </a:r>
            <a:endParaRPr lang="en-US" altLang="ko-KR" smtClean="0"/>
          </a:p>
          <a:p>
            <a:r>
              <a:rPr lang="ko-KR" altLang="en-US" smtClean="0"/>
              <a:t>월드맵에서 사건 지역들만 빼서 표현할 수도 있다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월드맵 </a:t>
            </a:r>
            <a:r>
              <a:rPr lang="en-US" altLang="ko-KR" smtClean="0"/>
              <a:t>+ </a:t>
            </a:r>
            <a:r>
              <a:rPr lang="ko-KR" altLang="en-US" smtClean="0"/>
              <a:t>사건이 발생하는 맵을 함께 표현해도 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/>
          </a:p>
          <a:p>
            <a:r>
              <a:rPr lang="en-US" altLang="ko-KR" smtClean="0"/>
              <a:t>D&amp;d </a:t>
            </a:r>
            <a:r>
              <a:rPr lang="ko-KR" altLang="en-US" smtClean="0"/>
              <a:t>맵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863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1629" r="1563"/>
          <a:stretch/>
        </p:blipFill>
        <p:spPr>
          <a:xfrm>
            <a:off x="398809" y="292608"/>
            <a:ext cx="3999455" cy="281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23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189</Words>
  <Application>Microsoft Office PowerPoint</Application>
  <PresentationFormat>와이드스크린</PresentationFormat>
  <Paragraphs>65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둥근모꼴</vt:lpstr>
      <vt:lpstr>맑은 고딕</vt:lpstr>
      <vt:lpstr>Arial</vt:lpstr>
      <vt:lpstr>Office 테마</vt:lpstr>
      <vt:lpstr>등장인물 관계도</vt:lpstr>
      <vt:lpstr>PowerPoint 프레젠테이션</vt:lpstr>
      <vt:lpstr>PowerPoint 프레젠테이션</vt:lpstr>
      <vt:lpstr>PowerPoint 프레젠테이션</vt:lpstr>
      <vt:lpstr>PowerPoint 프레젠테이션</vt:lpstr>
      <vt:lpstr>월드맵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등장인물 관계도 / 등장무대</dc:title>
  <dc:creator>FullName</dc:creator>
  <cp:lastModifiedBy>FullName</cp:lastModifiedBy>
  <cp:revision>6</cp:revision>
  <dcterms:created xsi:type="dcterms:W3CDTF">2026-04-09T04:58:27Z</dcterms:created>
  <dcterms:modified xsi:type="dcterms:W3CDTF">2026-04-09T06:51:29Z</dcterms:modified>
</cp:coreProperties>
</file>