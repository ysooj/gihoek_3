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321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24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553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66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6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450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98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618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19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75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537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EC29F-C3F4-4A33-B3EC-2D81D5BCD62C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AB150-DBDB-47C8-B7BA-9D495D9074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29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(13) </a:t>
            </a:r>
            <a:r>
              <a:rPr lang="ko-KR" altLang="en-US" smtClean="0"/>
              <a:t>성숙의 플롯</a:t>
            </a:r>
            <a:r>
              <a:rPr lang="en-US" altLang="ko-KR" smtClean="0"/>
              <a:t>(2) – </a:t>
            </a:r>
            <a:r>
              <a:rPr lang="en-US" altLang="ko-KR" sz="2400" smtClean="0"/>
              <a:t>[</a:t>
            </a:r>
            <a:r>
              <a:rPr lang="ko-KR" altLang="en-US" sz="2400" smtClean="0"/>
              <a:t>포레스트검프</a:t>
            </a:r>
            <a:r>
              <a:rPr lang="en-US" altLang="ko-KR" sz="2400" smtClean="0"/>
              <a:t>] </a:t>
            </a:r>
            <a:r>
              <a:rPr lang="ko-KR" altLang="en-US" sz="2400" smtClean="0"/>
              <a:t>미국의 근현대사</a:t>
            </a:r>
            <a:r>
              <a:rPr lang="en-US" altLang="ko-KR" sz="2400" smtClean="0"/>
              <a:t> 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엘비스</a:t>
            </a:r>
            <a:r>
              <a:rPr lang="en-US" altLang="ko-KR" smtClean="0"/>
              <a:t>, </a:t>
            </a:r>
            <a:r>
              <a:rPr lang="ko-KR" altLang="en-US" smtClean="0"/>
              <a:t>대통령 캐네디</a:t>
            </a:r>
            <a:r>
              <a:rPr lang="en-US" altLang="ko-KR" smtClean="0"/>
              <a:t>.</a:t>
            </a:r>
            <a:r>
              <a:rPr lang="ko-KR" altLang="en-US" smtClean="0"/>
              <a:t>존슨</a:t>
            </a:r>
            <a:r>
              <a:rPr lang="en-US" altLang="ko-KR" smtClean="0"/>
              <a:t>.</a:t>
            </a:r>
            <a:r>
              <a:rPr lang="ko-KR" altLang="en-US" smtClean="0"/>
              <a:t>닉슨</a:t>
            </a:r>
            <a:r>
              <a:rPr lang="en-US" altLang="ko-KR" smtClean="0"/>
              <a:t>, </a:t>
            </a:r>
            <a:r>
              <a:rPr lang="ko-KR" altLang="en-US" smtClean="0"/>
              <a:t>존레논</a:t>
            </a:r>
            <a:r>
              <a:rPr lang="en-US" altLang="ko-KR" smtClean="0"/>
              <a:t>, </a:t>
            </a:r>
            <a:r>
              <a:rPr lang="ko-KR" altLang="en-US" smtClean="0"/>
              <a:t>스티브잡스 등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미국 근현대사의 대통령과 유명 인사들이 출현</a:t>
            </a:r>
            <a:endParaRPr lang="en-US" altLang="ko-KR" smtClean="0"/>
          </a:p>
          <a:p>
            <a:r>
              <a:rPr lang="ko-KR" altLang="en-US" smtClean="0"/>
              <a:t>이를 통해 대중</a:t>
            </a:r>
            <a:r>
              <a:rPr lang="en-US" altLang="ko-KR" smtClean="0"/>
              <a:t>, </a:t>
            </a:r>
            <a:r>
              <a:rPr lang="ko-KR" altLang="en-US" smtClean="0"/>
              <a:t>평단들에게 향수를 일으키는 등 좋은 평을 받음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77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46" y="523469"/>
            <a:ext cx="9011908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39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국제시장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1371" y="1825625"/>
            <a:ext cx="10929258" cy="4351338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역사적인 사실이 왜곡돼있어서 평론가에게는 좋은 평을 받지 못함</a:t>
            </a:r>
            <a:endParaRPr lang="en-US" altLang="ko-KR"/>
          </a:p>
          <a:p>
            <a:r>
              <a:rPr lang="ko-KR" altLang="en-US" smtClean="0"/>
              <a:t>아버지는 주인공에게 </a:t>
            </a:r>
            <a:r>
              <a:rPr lang="en-US" altLang="ko-KR" smtClean="0"/>
              <a:t>‘</a:t>
            </a:r>
            <a:r>
              <a:rPr lang="ko-KR" altLang="en-US" smtClean="0"/>
              <a:t>가장으로서 가족을 잘 보살피라</a:t>
            </a:r>
            <a:r>
              <a:rPr lang="en-US" altLang="ko-KR" smtClean="0"/>
              <a:t>＇</a:t>
            </a:r>
            <a:r>
              <a:rPr lang="ko-KR" altLang="en-US" smtClean="0"/>
              <a:t>는 인생의 지침을 남김</a:t>
            </a:r>
            <a:endParaRPr lang="en-US" altLang="ko-KR"/>
          </a:p>
          <a:p>
            <a:r>
              <a:rPr lang="ko-KR" altLang="en-US" smtClean="0"/>
              <a:t>이 당시에는 개인보다 민족성이 더 높았다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포레스트검프</a:t>
            </a:r>
            <a:r>
              <a:rPr lang="en-US" altLang="ko-KR"/>
              <a:t>]</a:t>
            </a:r>
            <a:r>
              <a:rPr lang="ko-KR" altLang="en-US"/>
              <a:t>와 </a:t>
            </a:r>
            <a:r>
              <a:rPr lang="ko-KR" altLang="en-US" smtClean="0"/>
              <a:t>네러티브는 거의 같고</a:t>
            </a:r>
            <a:r>
              <a:rPr lang="en-US" altLang="ko-KR" smtClean="0"/>
              <a:t>(</a:t>
            </a:r>
            <a:r>
              <a:rPr lang="ko-KR" altLang="en-US" smtClean="0"/>
              <a:t>벤치마킹</a:t>
            </a:r>
            <a:r>
              <a:rPr lang="en-US" altLang="ko-KR" smtClean="0"/>
              <a:t>), </a:t>
            </a:r>
            <a:r>
              <a:rPr lang="ko-KR" altLang="en-US" smtClean="0"/>
              <a:t>셀럽들이 </a:t>
            </a:r>
            <a:r>
              <a:rPr lang="ko-KR" altLang="en-US"/>
              <a:t>나오는 건 같지만</a:t>
            </a:r>
            <a:r>
              <a:rPr lang="en-US" altLang="ko-KR" smtClean="0"/>
              <a:t>, [</a:t>
            </a:r>
            <a:r>
              <a:rPr lang="ko-KR" altLang="en-US" smtClean="0"/>
              <a:t>포레스트검프</a:t>
            </a:r>
            <a:r>
              <a:rPr lang="en-US" altLang="ko-KR" smtClean="0"/>
              <a:t>]</a:t>
            </a:r>
            <a:r>
              <a:rPr lang="ko-KR" altLang="en-US" smtClean="0"/>
              <a:t>와 달리 여기서는 정치적인 이야기는 말하지 않는다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주인공이 어릴 때 흥남에서 미군의 군함을 타고 피난을 간 것과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베트남 전쟁에 참전한 주인공이 베트남 마을 주민들과 함께 대피하는 장면은 잘 설계된 이야기 구조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6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영상 서사학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하나의 이야기를 기준으로 사각형을 만들면</a:t>
            </a:r>
            <a:endParaRPr lang="en-US" altLang="ko-KR" smtClean="0"/>
          </a:p>
          <a:p>
            <a:r>
              <a:rPr lang="ko-KR" altLang="en-US" smtClean="0"/>
              <a:t>주인공의 이야기를 </a:t>
            </a:r>
            <a:r>
              <a:rPr lang="en-US" altLang="ko-KR" smtClean="0"/>
              <a:t>/ </a:t>
            </a:r>
            <a:r>
              <a:rPr lang="ko-KR" altLang="en-US" smtClean="0"/>
              <a:t>상황의 기차칸으로 </a:t>
            </a:r>
            <a:r>
              <a:rPr lang="en-US" altLang="ko-KR" smtClean="0"/>
              <a:t>/ </a:t>
            </a:r>
            <a:r>
              <a:rPr lang="ko-KR" altLang="en-US" smtClean="0"/>
              <a:t>관객과 함께 </a:t>
            </a:r>
            <a:r>
              <a:rPr lang="en-US" altLang="ko-KR" smtClean="0"/>
              <a:t>/ </a:t>
            </a:r>
            <a:r>
              <a:rPr lang="ko-KR" altLang="en-US" smtClean="0"/>
              <a:t>소모해간다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주인공은 앞으로의 이야기를 모르지만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악당은 자신의 음모를 가지고 있으므로 앞으로의 일을 안다고 할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이는 네모에서 윗 부분을 작가</a:t>
            </a:r>
            <a:r>
              <a:rPr lang="en-US" altLang="ko-KR" smtClean="0"/>
              <a:t>/</a:t>
            </a:r>
            <a:r>
              <a:rPr lang="ko-KR" altLang="en-US" smtClean="0"/>
              <a:t>악당의 영역</a:t>
            </a:r>
            <a:r>
              <a:rPr lang="en-US" altLang="ko-KR" smtClean="0"/>
              <a:t>, </a:t>
            </a:r>
            <a:r>
              <a:rPr lang="ko-KR" altLang="en-US" smtClean="0"/>
              <a:t>아랫 부분을 관객</a:t>
            </a:r>
            <a:r>
              <a:rPr lang="en-US" altLang="ko-KR" smtClean="0"/>
              <a:t>/</a:t>
            </a:r>
            <a:r>
              <a:rPr lang="ko-KR" altLang="en-US" smtClean="0"/>
              <a:t>독자의 영역이라고 할 수 있다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58790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047" y="494890"/>
            <a:ext cx="7925906" cy="586821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363" y="1333207"/>
            <a:ext cx="6611273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92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두 개의 삼각형으로 이야기를 설계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smtClean="0"/>
              <a:t>작가는 일련의 사건들을 삼각형 위쪽에 넣는다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이야기의 소재들</a:t>
            </a:r>
            <a:endParaRPr lang="en-US" altLang="ko-KR" smtClean="0"/>
          </a:p>
          <a:p>
            <a:r>
              <a:rPr lang="ko-KR" altLang="en-US" smtClean="0"/>
              <a:t>굵직한 사건들은 작가가 이야기에 넣을 소재이므로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이를 적어놓는 것만으로도 글을 좀 더 쉽게 쓸 수 있게 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이 사건들을 아래쪽 삼각형에 순서대로 배치한다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상황의 기차칸으로서 소재들을 배치한다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여기에 상황의 기차 칸에 대해</a:t>
            </a:r>
            <a:r>
              <a:rPr lang="en-US" altLang="ko-KR" smtClean="0"/>
              <a:t>, </a:t>
            </a:r>
            <a:r>
              <a:rPr lang="ko-KR" altLang="en-US" smtClean="0"/>
              <a:t>하나의 틀을 더해주면 더 좋다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발단의 방향성 </a:t>
            </a:r>
            <a:r>
              <a:rPr lang="en-US" altLang="ko-KR" smtClean="0"/>
              <a:t>: </a:t>
            </a:r>
            <a:r>
              <a:rPr lang="ko-KR" altLang="en-US" smtClean="0"/>
              <a:t>갈등 제시</a:t>
            </a:r>
            <a:endParaRPr lang="en-US" altLang="ko-KR" smtClean="0"/>
          </a:p>
          <a:p>
            <a:pPr lvl="1"/>
            <a:r>
              <a:rPr lang="ko-KR" altLang="en-US" smtClean="0"/>
              <a:t>전개</a:t>
            </a:r>
            <a:r>
              <a:rPr lang="ko-KR" altLang="en-US"/>
              <a:t>의 방향성</a:t>
            </a:r>
            <a:r>
              <a:rPr lang="en-US" altLang="ko-KR" smtClean="0"/>
              <a:t> : </a:t>
            </a:r>
            <a:r>
              <a:rPr lang="ko-KR" altLang="en-US" smtClean="0"/>
              <a:t>갈등 인지</a:t>
            </a:r>
            <a:endParaRPr lang="en-US" altLang="ko-KR" smtClean="0"/>
          </a:p>
          <a:p>
            <a:pPr lvl="1"/>
            <a:r>
              <a:rPr lang="ko-KR" altLang="en-US" smtClean="0"/>
              <a:t>위기</a:t>
            </a:r>
            <a:r>
              <a:rPr lang="ko-KR" altLang="en-US"/>
              <a:t>의 방향성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갈등 고조</a:t>
            </a:r>
            <a:endParaRPr lang="en-US" altLang="ko-KR" smtClean="0"/>
          </a:p>
          <a:p>
            <a:pPr lvl="1"/>
            <a:r>
              <a:rPr lang="ko-KR" altLang="en-US" smtClean="0"/>
              <a:t>절정</a:t>
            </a:r>
            <a:r>
              <a:rPr lang="ko-KR" altLang="en-US"/>
              <a:t>의 방향성</a:t>
            </a:r>
            <a:r>
              <a:rPr lang="en-US" altLang="ko-KR" smtClean="0"/>
              <a:t> : </a:t>
            </a:r>
            <a:r>
              <a:rPr lang="ko-KR" altLang="en-US" smtClean="0"/>
              <a:t>갈등 최고조</a:t>
            </a:r>
            <a:endParaRPr lang="en-US" altLang="ko-KR" smtClean="0"/>
          </a:p>
          <a:p>
            <a:pPr lvl="1"/>
            <a:r>
              <a:rPr lang="ko-KR" altLang="en-US" smtClean="0"/>
              <a:t>결말</a:t>
            </a:r>
            <a:r>
              <a:rPr lang="ko-KR" altLang="en-US"/>
              <a:t>의 방향성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갈등 해소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527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46" y="618733"/>
            <a:ext cx="9011908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804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(14) </a:t>
            </a:r>
            <a:r>
              <a:rPr lang="ko-KR" altLang="en-US" smtClean="0"/>
              <a:t>사랑의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4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(15) </a:t>
            </a:r>
            <a:r>
              <a:rPr lang="ko-KR" altLang="en-US" smtClean="0"/>
              <a:t>금지된 사랑의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172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(16) </a:t>
            </a:r>
            <a:r>
              <a:rPr lang="ko-KR" altLang="en-US" smtClean="0"/>
              <a:t>희생의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108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168</Words>
  <Application>Microsoft Office PowerPoint</Application>
  <PresentationFormat>와이드스크린</PresentationFormat>
  <Paragraphs>32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(13) 성숙의 플롯(2) – [포레스트검프] 미국의 근현대사 </vt:lpstr>
      <vt:lpstr>PowerPoint 프레젠테이션</vt:lpstr>
      <vt:lpstr>[국제시장]</vt:lpstr>
      <vt:lpstr>영상 서사학</vt:lpstr>
      <vt:lpstr>PowerPoint 프레젠테이션</vt:lpstr>
      <vt:lpstr>두 개의 삼각형으로 이야기를 설계</vt:lpstr>
      <vt:lpstr>PowerPoint 프레젠테이션</vt:lpstr>
      <vt:lpstr>(14) 사랑의 플롯</vt:lpstr>
      <vt:lpstr>(15) 금지된 사랑의 플롯</vt:lpstr>
      <vt:lpstr>(16) 희생의 플롯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(14) </dc:title>
  <dc:creator>FullName</dc:creator>
  <cp:lastModifiedBy>FullName</cp:lastModifiedBy>
  <cp:revision>10</cp:revision>
  <dcterms:created xsi:type="dcterms:W3CDTF">2026-03-27T04:50:37Z</dcterms:created>
  <dcterms:modified xsi:type="dcterms:W3CDTF">2026-03-27T06:50:48Z</dcterms:modified>
</cp:coreProperties>
</file>