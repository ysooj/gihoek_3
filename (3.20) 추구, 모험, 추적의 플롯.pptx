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71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206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902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52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96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738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379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60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07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11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71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130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D25BB-619D-46EA-BEBA-F747F1FCEE71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0C70C-2A49-4EA5-89D5-B9147ABE6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00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우리가 보거나 듣거나 읽을 수 있는 여러 가지 재미난 이야기들을 정리해본 것</a:t>
            </a:r>
            <a:endParaRPr lang="en-US" altLang="ko-KR"/>
          </a:p>
          <a:p>
            <a:r>
              <a:rPr lang="ko-KR" altLang="en-US" smtClean="0"/>
              <a:t>의도된 상황의 흐름</a:t>
            </a:r>
            <a:r>
              <a:rPr lang="en-US" altLang="ko-KR" smtClean="0"/>
              <a:t>. </a:t>
            </a:r>
            <a:r>
              <a:rPr lang="ko-KR" altLang="en-US" smtClean="0"/>
              <a:t>각각의 상황이 모두 다를 것이다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상황의 기차칸에 대한 흐름</a:t>
            </a:r>
            <a:r>
              <a:rPr lang="en-US" altLang="ko-KR" smtClean="0"/>
              <a:t>‘</a:t>
            </a:r>
          </a:p>
          <a:p>
            <a:endParaRPr lang="en-US" altLang="ko-KR" smtClean="0"/>
          </a:p>
          <a:p>
            <a:r>
              <a:rPr lang="ko-KR" altLang="en-US" smtClean="0"/>
              <a:t>영화를 기준으로 플롯을 배울 것이다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20</a:t>
            </a:r>
            <a:r>
              <a:rPr lang="ko-KR" altLang="en-US" smtClean="0"/>
              <a:t>가지 정도의 플롯을 배울 것이다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27799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05" y="-29058"/>
            <a:ext cx="7992590" cy="691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975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841" y="114076"/>
            <a:ext cx="8502318" cy="66298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2821" y="114076"/>
            <a:ext cx="12512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각각의 플롯을 대표할 수 있는 작품들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3324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플롯 </a:t>
            </a:r>
            <a:r>
              <a:rPr lang="en-US" altLang="ko-KR" smtClean="0"/>
              <a:t>vs </a:t>
            </a:r>
            <a:r>
              <a:rPr lang="ko-KR" altLang="en-US" smtClean="0"/>
              <a:t>이야기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smtClean="0"/>
              <a:t>[</a:t>
            </a:r>
            <a:r>
              <a:rPr lang="ko-KR" altLang="en-US" b="1" smtClean="0"/>
              <a:t>이야기</a:t>
            </a:r>
            <a:r>
              <a:rPr lang="en-US" altLang="ko-KR" b="1" smtClean="0"/>
              <a:t>]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큰 덩어리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왕이 죽자</a:t>
            </a:r>
            <a:r>
              <a:rPr lang="en-US" altLang="ko-KR" smtClean="0"/>
              <a:t>, </a:t>
            </a:r>
            <a:r>
              <a:rPr lang="ko-KR" altLang="en-US" smtClean="0"/>
              <a:t>왕비가 죽었다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b="1" smtClean="0"/>
              <a:t>[</a:t>
            </a:r>
            <a:r>
              <a:rPr lang="ko-KR" altLang="en-US" b="1" smtClean="0"/>
              <a:t>플롯</a:t>
            </a:r>
            <a:r>
              <a:rPr lang="en-US" altLang="ko-KR" b="1" smtClean="0"/>
              <a:t>]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인과관계를 중시해서 이야기와 이야기를 엮어 주는 것</a:t>
            </a:r>
            <a:endParaRPr lang="en-US" altLang="ko-KR" smtClean="0"/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왕이 죽자</a:t>
            </a:r>
            <a:r>
              <a:rPr lang="en-US" altLang="ko-KR" smtClean="0"/>
              <a:t>, </a:t>
            </a:r>
            <a:r>
              <a:rPr lang="ko-KR" altLang="en-US" smtClean="0"/>
              <a:t>이를 너무 슬퍼한 나머지 왕비가 따라서 죽었다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작가가 소재를 극적이게 활용하여 자신의 의도를 보여주는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58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대중이 좋아하는 이야기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사람들이 좋아하는 지침</a:t>
            </a:r>
            <a:r>
              <a:rPr lang="en-US" altLang="ko-KR" smtClean="0"/>
              <a:t>, </a:t>
            </a:r>
            <a:r>
              <a:rPr lang="ko-KR" altLang="en-US" smtClean="0"/>
              <a:t>특징</a:t>
            </a:r>
            <a:r>
              <a:rPr lang="en-US" altLang="ko-KR" smtClean="0"/>
              <a:t>, </a:t>
            </a:r>
            <a:r>
              <a:rPr lang="ko-KR" altLang="en-US" smtClean="0"/>
              <a:t>흐름이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이를 따라가면</a:t>
            </a:r>
            <a:r>
              <a:rPr lang="en-US" altLang="ko-KR" smtClean="0"/>
              <a:t>, </a:t>
            </a:r>
            <a:r>
              <a:rPr lang="ko-KR" altLang="en-US" smtClean="0"/>
              <a:t>뻔할지언정</a:t>
            </a:r>
            <a:r>
              <a:rPr lang="en-US" altLang="ko-KR" smtClean="0"/>
              <a:t>, </a:t>
            </a:r>
            <a:r>
              <a:rPr lang="ko-KR" altLang="en-US" smtClean="0"/>
              <a:t>재미없는 글을 안 나온다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플롯 </a:t>
            </a:r>
            <a:r>
              <a:rPr lang="en-US" altLang="ko-KR" smtClean="0"/>
              <a:t>= </a:t>
            </a:r>
          </a:p>
          <a:p>
            <a:r>
              <a:rPr lang="en-US" altLang="ko-KR" b="1" smtClean="0"/>
              <a:t>‘</a:t>
            </a:r>
            <a:r>
              <a:rPr lang="ko-KR" altLang="en-US" b="1" smtClean="0"/>
              <a:t>이야기의 중심 축</a:t>
            </a:r>
            <a:r>
              <a:rPr lang="en-US" altLang="ko-KR" b="1" smtClean="0"/>
              <a:t>‘</a:t>
            </a:r>
            <a:r>
              <a:rPr lang="en-US" altLang="ko-KR" smtClean="0"/>
              <a:t>, </a:t>
            </a:r>
            <a:r>
              <a:rPr lang="en-US" altLang="ko-KR" b="1" smtClean="0"/>
              <a:t>‘</a:t>
            </a:r>
            <a:r>
              <a:rPr lang="ko-KR" altLang="en-US" b="1" smtClean="0"/>
              <a:t>이야기의 관통 시나리오</a:t>
            </a:r>
            <a:r>
              <a:rPr lang="en-US" altLang="ko-KR" b="1" smtClean="0"/>
              <a:t>‘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561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100" y="537759"/>
            <a:ext cx="7525800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3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337" y="234623"/>
            <a:ext cx="8887326" cy="638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9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smtClean="0"/>
              <a:t>(1) </a:t>
            </a:r>
            <a:r>
              <a:rPr lang="ko-KR" altLang="en-US" b="1" smtClean="0"/>
              <a:t>추구의 플롯</a:t>
            </a:r>
            <a:endParaRPr lang="ko-KR" altLang="en-US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7305" y="1825625"/>
            <a:ext cx="11197390" cy="4351338"/>
          </a:xfrm>
        </p:spPr>
        <p:txBody>
          <a:bodyPr/>
          <a:lstStyle/>
          <a:p>
            <a:r>
              <a:rPr lang="ko-KR" altLang="en-US" smtClean="0"/>
              <a:t>추구가 안 될 것 같은 사람이 추구하는 것으로 이야기가 시작한다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추구가 되는 사람이 추구하면 그것은 극이 되지 않는다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돈키호테 </a:t>
            </a:r>
            <a:r>
              <a:rPr lang="en-US" altLang="ko-KR" smtClean="0"/>
              <a:t>: </a:t>
            </a:r>
            <a:r>
              <a:rPr lang="ko-KR" altLang="en-US" smtClean="0"/>
              <a:t>기사의 능력이 안 되는 사람이 기사가 되려고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주인공의 추구의 과정 속에서</a:t>
            </a:r>
            <a:r>
              <a:rPr lang="en-US" altLang="ko-KR" smtClean="0"/>
              <a:t>, </a:t>
            </a:r>
            <a:r>
              <a:rPr lang="ko-KR" altLang="en-US" smtClean="0"/>
              <a:t>주변 사람들의 마음이 변화하게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추구가 되었는지</a:t>
            </a:r>
            <a:r>
              <a:rPr lang="en-US" altLang="ko-KR" smtClean="0"/>
              <a:t>, </a:t>
            </a:r>
            <a:r>
              <a:rPr lang="ko-KR" altLang="en-US" smtClean="0"/>
              <a:t>되지 않았는지는 중요 </a:t>
            </a:r>
            <a:r>
              <a:rPr lang="en-US" altLang="ko-KR" smtClean="0"/>
              <a:t>x. </a:t>
            </a:r>
            <a:r>
              <a:rPr lang="ko-KR" altLang="en-US" smtClean="0"/>
              <a:t>맹목적인 추구의 과정 속에서 주변 사람들의 반응의 변화가 극</a:t>
            </a:r>
            <a:r>
              <a:rPr lang="en-US" altLang="ko-KR" smtClean="0"/>
              <a:t>, </a:t>
            </a:r>
            <a:r>
              <a:rPr lang="ko-KR" altLang="en-US" smtClean="0"/>
              <a:t>즉 이야기다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471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62" y="394864"/>
            <a:ext cx="9145276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56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헥소고지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smtClean="0"/>
              <a:t>총을 들지 않는 군인</a:t>
            </a:r>
            <a:r>
              <a:rPr lang="en-US" altLang="ko-KR" smtClean="0"/>
              <a:t>’. </a:t>
            </a:r>
            <a:r>
              <a:rPr lang="ko-KR" altLang="en-US" smtClean="0"/>
              <a:t>이 모순에 대해</a:t>
            </a:r>
            <a:r>
              <a:rPr lang="en-US" altLang="ko-KR" smtClean="0"/>
              <a:t>,</a:t>
            </a:r>
            <a:r>
              <a:rPr lang="ko-KR" altLang="en-US" smtClean="0"/>
              <a:t> 주인공은 이를 맹목적으로 추구한다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주변 사람들은 처음에는</a:t>
            </a:r>
            <a:r>
              <a:rPr lang="en-US" altLang="ko-KR" smtClean="0"/>
              <a:t>, </a:t>
            </a:r>
            <a:r>
              <a:rPr lang="ko-KR" altLang="en-US" smtClean="0"/>
              <a:t>모순을 가진 도스 이병</a:t>
            </a:r>
            <a:r>
              <a:rPr lang="en-US" altLang="ko-KR" smtClean="0"/>
              <a:t>(</a:t>
            </a:r>
            <a:r>
              <a:rPr lang="ko-KR" altLang="en-US" smtClean="0"/>
              <a:t>주인공</a:t>
            </a:r>
            <a:r>
              <a:rPr lang="en-US" altLang="ko-KR" smtClean="0"/>
              <a:t>)</a:t>
            </a:r>
            <a:r>
              <a:rPr lang="ko-KR" altLang="en-US" smtClean="0"/>
              <a:t>을 다그치고</a:t>
            </a:r>
            <a:r>
              <a:rPr lang="en-US" altLang="ko-KR" smtClean="0"/>
              <a:t>, </a:t>
            </a:r>
            <a:r>
              <a:rPr lang="ko-KR" altLang="en-US" smtClean="0"/>
              <a:t>폭력까지 행사한다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전쟁 상황에서 도스 이병이 모두를</a:t>
            </a:r>
            <a:r>
              <a:rPr lang="en-US" altLang="ko-KR" smtClean="0"/>
              <a:t>, </a:t>
            </a:r>
            <a:r>
              <a:rPr lang="ko-KR" altLang="en-US" smtClean="0"/>
              <a:t>시체까지 구해내는 모습에</a:t>
            </a:r>
            <a:r>
              <a:rPr lang="en-US" altLang="ko-KR" smtClean="0"/>
              <a:t>, </a:t>
            </a:r>
            <a:r>
              <a:rPr lang="ko-KR" altLang="en-US" smtClean="0"/>
              <a:t>주변 사람들이 그를 인정하고 존중하게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주변이 바뀌면서</a:t>
            </a:r>
            <a:r>
              <a:rPr lang="en-US" altLang="ko-KR" smtClean="0"/>
              <a:t>, </a:t>
            </a:r>
            <a:r>
              <a:rPr lang="ko-KR" altLang="en-US" smtClean="0"/>
              <a:t>이를 관람하는 우리가 희열을 느끼게 되는 것이다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954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smtClean="0"/>
              <a:t>(2) </a:t>
            </a:r>
            <a:r>
              <a:rPr lang="ko-KR" altLang="en-US" b="1" smtClean="0"/>
              <a:t>모험의 플롯</a:t>
            </a:r>
            <a:endParaRPr lang="ko-KR" altLang="en-US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익숙하지 않은 공간을</a:t>
            </a:r>
            <a:r>
              <a:rPr lang="en-US" altLang="ko-KR" smtClean="0"/>
              <a:t>, </a:t>
            </a:r>
            <a:r>
              <a:rPr lang="ko-KR" altLang="en-US" smtClean="0"/>
              <a:t>주인공과 함께 여행하는 것</a:t>
            </a:r>
            <a:endParaRPr lang="en-US" altLang="ko-KR" smtClean="0"/>
          </a:p>
          <a:p>
            <a:r>
              <a:rPr lang="ko-KR" altLang="en-US" smtClean="0"/>
              <a:t>모험은 </a:t>
            </a:r>
            <a:r>
              <a:rPr lang="en-US" altLang="ko-KR" smtClean="0"/>
              <a:t>‘</a:t>
            </a:r>
            <a:r>
              <a:rPr lang="ko-KR" altLang="en-US" smtClean="0"/>
              <a:t>묘사체</a:t>
            </a:r>
            <a:r>
              <a:rPr lang="en-US" altLang="ko-KR" smtClean="0"/>
              <a:t>＇</a:t>
            </a:r>
            <a:r>
              <a:rPr lang="ko-KR" altLang="en-US" smtClean="0"/>
              <a:t>로 글을 쓴다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‘</a:t>
            </a:r>
            <a:r>
              <a:rPr lang="ko-KR" altLang="en-US" smtClean="0"/>
              <a:t>여행</a:t>
            </a:r>
            <a:r>
              <a:rPr lang="en-US" altLang="ko-KR" smtClean="0"/>
              <a:t>’</a:t>
            </a:r>
          </a:p>
          <a:p>
            <a:endParaRPr lang="en-US" altLang="ko-KR" smtClean="0"/>
          </a:p>
          <a:p>
            <a:r>
              <a:rPr lang="ko-KR" altLang="en-US" smtClean="0"/>
              <a:t>새로운 곳</a:t>
            </a:r>
            <a:r>
              <a:rPr lang="en-US" altLang="ko-KR" smtClean="0"/>
              <a:t>, </a:t>
            </a:r>
            <a:r>
              <a:rPr lang="ko-KR" altLang="en-US" smtClean="0"/>
              <a:t>새로운 경험에 대해서 쓸 수 있을 때 </a:t>
            </a:r>
            <a:r>
              <a:rPr lang="en-US" altLang="ko-KR" smtClean="0"/>
              <a:t>‘</a:t>
            </a:r>
            <a:r>
              <a:rPr lang="ko-KR" altLang="en-US" smtClean="0"/>
              <a:t>모험의 플롯</a:t>
            </a:r>
            <a:r>
              <a:rPr lang="en-US" altLang="ko-KR" smtClean="0"/>
              <a:t>＇</a:t>
            </a:r>
            <a:r>
              <a:rPr lang="ko-KR" altLang="en-US" smtClean="0"/>
              <a:t>을 쓰자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그렇지 않으면 익숙해서 </a:t>
            </a:r>
            <a:r>
              <a:rPr lang="en-US" altLang="ko-KR" smtClean="0"/>
              <a:t>‘</a:t>
            </a:r>
            <a:r>
              <a:rPr lang="ko-KR" altLang="en-US" smtClean="0"/>
              <a:t>여행</a:t>
            </a:r>
            <a:r>
              <a:rPr lang="en-US" altLang="ko-KR" smtClean="0"/>
              <a:t>’</a:t>
            </a:r>
            <a:r>
              <a:rPr lang="ko-KR" altLang="en-US" smtClean="0"/>
              <a:t>하는 느낌이 나지 않는다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463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92" y="360946"/>
            <a:ext cx="11188016" cy="613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47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smtClean="0"/>
              <a:t>(3) </a:t>
            </a:r>
            <a:r>
              <a:rPr lang="ko-KR" altLang="en-US" b="1" smtClean="0"/>
              <a:t>추적의 플롯</a:t>
            </a:r>
            <a:endParaRPr lang="ko-KR" altLang="en-US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잡고</a:t>
            </a:r>
            <a:r>
              <a:rPr lang="en-US" altLang="ko-KR" smtClean="0"/>
              <a:t>, </a:t>
            </a:r>
            <a:r>
              <a:rPr lang="ko-KR" altLang="en-US" smtClean="0"/>
              <a:t>잡히는 사람</a:t>
            </a:r>
            <a:endParaRPr lang="en-US" altLang="ko-KR" smtClean="0"/>
          </a:p>
          <a:p>
            <a:r>
              <a:rPr lang="ko-KR" altLang="en-US" smtClean="0"/>
              <a:t>잡힐듯 말듯한 상황</a:t>
            </a:r>
            <a:endParaRPr lang="en-US" altLang="ko-KR" smtClean="0"/>
          </a:p>
          <a:p>
            <a:r>
              <a:rPr lang="ko-KR" altLang="en-US" smtClean="0"/>
              <a:t>조력자의 도움</a:t>
            </a:r>
            <a:r>
              <a:rPr lang="en-US" altLang="ko-KR" smtClean="0"/>
              <a:t>, </a:t>
            </a:r>
            <a:r>
              <a:rPr lang="ko-KR" altLang="en-US" smtClean="0"/>
              <a:t>쫓기는 사람의 능력 등으로 위기 탈출</a:t>
            </a:r>
            <a:endParaRPr lang="en-US" altLang="ko-KR" smtClean="0"/>
          </a:p>
          <a:p>
            <a:endParaRPr lang="en-US" altLang="ko-KR" smtClean="0"/>
          </a:p>
          <a:p>
            <a:r>
              <a:rPr lang="en-US" altLang="ko-KR" smtClean="0"/>
              <a:t>[</a:t>
            </a:r>
            <a:r>
              <a:rPr lang="ko-KR" altLang="en-US" smtClean="0"/>
              <a:t>터미네이터</a:t>
            </a:r>
            <a:r>
              <a:rPr lang="en-US" altLang="ko-KR" smtClean="0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23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651" y="652075"/>
            <a:ext cx="9116697" cy="55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84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내 이야기의 </a:t>
            </a:r>
            <a:r>
              <a:rPr lang="en-US" altLang="ko-KR" smtClean="0"/>
              <a:t>‘</a:t>
            </a:r>
            <a:r>
              <a:rPr lang="ko-KR" altLang="en-US" smtClean="0"/>
              <a:t>상황의 기차칸</a:t>
            </a:r>
            <a:r>
              <a:rPr lang="en-US" altLang="ko-KR" smtClean="0"/>
              <a:t>＇</a:t>
            </a:r>
            <a:r>
              <a:rPr lang="ko-KR" altLang="en-US" smtClean="0"/>
              <a:t>을 만들 거다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각각의 기차칸에서 각각의 플롯을 쓸 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어떤 상황</a:t>
            </a:r>
            <a:r>
              <a:rPr lang="en-US" altLang="ko-KR" smtClean="0"/>
              <a:t>, </a:t>
            </a:r>
            <a:r>
              <a:rPr lang="ko-KR" altLang="en-US" smtClean="0"/>
              <a:t>소재</a:t>
            </a:r>
            <a:r>
              <a:rPr lang="en-US" altLang="ko-KR" smtClean="0"/>
              <a:t>, </a:t>
            </a:r>
            <a:r>
              <a:rPr lang="ko-KR" altLang="en-US" smtClean="0"/>
              <a:t>특징을 써야 하는지를 생각해보자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59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360</Words>
  <Application>Microsoft Office PowerPoint</Application>
  <PresentationFormat>와이드스크린</PresentationFormat>
  <Paragraphs>52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플롯</vt:lpstr>
      <vt:lpstr>PowerPoint 프레젠테이션</vt:lpstr>
      <vt:lpstr>PowerPoint 프레젠테이션</vt:lpstr>
      <vt:lpstr>플롯 vs 이야기</vt:lpstr>
      <vt:lpstr>대중이 좋아하는 이야기</vt:lpstr>
      <vt:lpstr>PowerPoint 프레젠테이션</vt:lpstr>
      <vt:lpstr>PowerPoint 프레젠테이션</vt:lpstr>
      <vt:lpstr>(1) 추구의 플롯</vt:lpstr>
      <vt:lpstr>PowerPoint 프레젠테이션</vt:lpstr>
      <vt:lpstr>[헥소고지]</vt:lpstr>
      <vt:lpstr>(2) 모험의 플롯</vt:lpstr>
      <vt:lpstr>PowerPoint 프레젠테이션</vt:lpstr>
      <vt:lpstr>(3) 추적의 플롯</vt:lpstr>
      <vt:lpstr>PowerPoint 프레젠테이션</vt:lpstr>
      <vt:lpstr>플롯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플롯</dc:title>
  <dc:creator>FullName</dc:creator>
  <cp:lastModifiedBy>FullName</cp:lastModifiedBy>
  <cp:revision>11</cp:revision>
  <dcterms:created xsi:type="dcterms:W3CDTF">2026-03-20T04:51:35Z</dcterms:created>
  <dcterms:modified xsi:type="dcterms:W3CDTF">2026-03-20T06:44:59Z</dcterms:modified>
</cp:coreProperties>
</file>