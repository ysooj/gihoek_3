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72" r:id="rId7"/>
    <p:sldId id="262" r:id="rId8"/>
    <p:sldId id="269" r:id="rId9"/>
    <p:sldId id="270" r:id="rId10"/>
    <p:sldId id="271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90" y="1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19F51-662D-4CAE-95D6-4B519E3E62E8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EDEBE-2CDC-433C-A07E-734D9C5653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4538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19F51-662D-4CAE-95D6-4B519E3E62E8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EDEBE-2CDC-433C-A07E-734D9C5653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6547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19F51-662D-4CAE-95D6-4B519E3E62E8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EDEBE-2CDC-433C-A07E-734D9C5653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3928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19F51-662D-4CAE-95D6-4B519E3E62E8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EDEBE-2CDC-433C-A07E-734D9C5653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1289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19F51-662D-4CAE-95D6-4B519E3E62E8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EDEBE-2CDC-433C-A07E-734D9C5653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1450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19F51-662D-4CAE-95D6-4B519E3E62E8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EDEBE-2CDC-433C-A07E-734D9C5653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370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19F51-662D-4CAE-95D6-4B519E3E62E8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EDEBE-2CDC-433C-A07E-734D9C5653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0432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19F51-662D-4CAE-95D6-4B519E3E62E8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EDEBE-2CDC-433C-A07E-734D9C5653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7897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19F51-662D-4CAE-95D6-4B519E3E62E8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EDEBE-2CDC-433C-A07E-734D9C5653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2359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19F51-662D-4CAE-95D6-4B519E3E62E8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EDEBE-2CDC-433C-A07E-734D9C5653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812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19F51-662D-4CAE-95D6-4B519E3E62E8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EDEBE-2CDC-433C-A07E-734D9C5653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9656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19F51-662D-4CAE-95D6-4B519E3E62E8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FEDEBE-2CDC-433C-A07E-734D9C56530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2122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jpeg"/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12" Type="http://schemas.openxmlformats.org/officeDocument/2006/relationships/image" Target="../media/image15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11" Type="http://schemas.openxmlformats.org/officeDocument/2006/relationships/image" Target="../media/image14.jpeg"/><Relationship Id="rId5" Type="http://schemas.openxmlformats.org/officeDocument/2006/relationships/image" Target="../media/image8.jpeg"/><Relationship Id="rId15" Type="http://schemas.openxmlformats.org/officeDocument/2006/relationships/image" Target="../media/image18.jpeg"/><Relationship Id="rId10" Type="http://schemas.openxmlformats.org/officeDocument/2006/relationships/image" Target="../media/image13.png"/><Relationship Id="rId4" Type="http://schemas.openxmlformats.org/officeDocument/2006/relationships/image" Target="../media/image7.jpeg"/><Relationship Id="rId9" Type="http://schemas.openxmlformats.org/officeDocument/2006/relationships/image" Target="../media/image12.jpeg"/><Relationship Id="rId14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미야자키 하야오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[</a:t>
            </a:r>
            <a:r>
              <a:rPr lang="ko-KR" altLang="en-US"/>
              <a:t>홍돈</a:t>
            </a:r>
            <a:r>
              <a:rPr lang="en-US" altLang="ko-KR"/>
              <a:t>] </a:t>
            </a:r>
            <a:r>
              <a:rPr lang="ko-KR" altLang="en-US"/>
              <a:t>빨간 돼지</a:t>
            </a:r>
            <a:endParaRPr lang="en-US" altLang="ko-KR"/>
          </a:p>
          <a:p>
            <a:r>
              <a:rPr lang="ko-KR" altLang="en-US"/>
              <a:t>바람의 마술사 </a:t>
            </a:r>
            <a:r>
              <a:rPr lang="en-US" altLang="ko-KR"/>
              <a:t>; </a:t>
            </a:r>
            <a:r>
              <a:rPr lang="ko-KR" altLang="en-US"/>
              <a:t>애니메이션은 바람이 없는 세계</a:t>
            </a:r>
            <a:r>
              <a:rPr lang="en-US" altLang="ko-KR"/>
              <a:t>. </a:t>
            </a:r>
            <a:r>
              <a:rPr lang="ko-KR" altLang="en-US"/>
              <a:t>그러나 바람이 있는 것처럼 느껴지가 잘 묘사하기 때문에 붙여진 별명</a:t>
            </a:r>
          </a:p>
        </p:txBody>
      </p:sp>
    </p:spTree>
    <p:extLst>
      <p:ext uri="{BB962C8B-B14F-4D97-AF65-F5344CB8AC3E}">
        <p14:creationId xmlns:p14="http://schemas.microsoft.com/office/powerpoint/2010/main" val="2491302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시각화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69495" y="1825625"/>
            <a:ext cx="11053010" cy="4351338"/>
          </a:xfrm>
        </p:spPr>
        <p:txBody>
          <a:bodyPr/>
          <a:lstStyle/>
          <a:p>
            <a:r>
              <a:rPr lang="ko-KR" altLang="en-US"/>
              <a:t>글자 정보를 통해 머릿속으로 상상하는 것은 </a:t>
            </a:r>
            <a:r>
              <a:rPr lang="en-US" altLang="ko-KR"/>
              <a:t>‘</a:t>
            </a:r>
            <a:r>
              <a:rPr lang="ko-KR" altLang="en-US"/>
              <a:t>기억이 오래 남긴 하지만 어렵다</a:t>
            </a:r>
            <a:r>
              <a:rPr lang="en-US" altLang="ko-KR"/>
              <a:t>. </a:t>
            </a:r>
            <a:r>
              <a:rPr lang="ko-KR" altLang="en-US"/>
              <a:t>오래 걸린다</a:t>
            </a:r>
            <a:r>
              <a:rPr lang="en-US" altLang="ko-KR"/>
              <a:t>.’</a:t>
            </a:r>
          </a:p>
          <a:p>
            <a:endParaRPr lang="en-US" altLang="ko-KR"/>
          </a:p>
          <a:p>
            <a:r>
              <a:rPr lang="ko-KR" altLang="en-US"/>
              <a:t>시각화로 정보를 나타낸 것을 보면</a:t>
            </a:r>
            <a:r>
              <a:rPr lang="en-US" altLang="ko-KR"/>
              <a:t>, </a:t>
            </a:r>
            <a:r>
              <a:rPr lang="ko-KR" altLang="en-US"/>
              <a:t>받아들이기가 훨씬 쉬워진다</a:t>
            </a:r>
            <a:r>
              <a:rPr lang="en-US" altLang="ko-KR"/>
              <a:t>.</a:t>
            </a:r>
          </a:p>
          <a:p>
            <a:r>
              <a:rPr lang="en-US" altLang="ko-KR"/>
              <a:t>Detail</a:t>
            </a:r>
            <a:r>
              <a:rPr lang="ko-KR" altLang="en-US"/>
              <a:t>을 놓치면 아작 나버리니 조심하자</a:t>
            </a:r>
            <a:r>
              <a:rPr lang="en-US" altLang="ko-KR"/>
              <a:t>.</a:t>
            </a:r>
          </a:p>
          <a:p>
            <a:r>
              <a:rPr lang="ko-KR" altLang="en-US"/>
              <a:t>이 디테일을 통해 작가의 삶을</a:t>
            </a:r>
            <a:r>
              <a:rPr lang="en-US" altLang="ko-KR"/>
              <a:t>, </a:t>
            </a:r>
            <a:r>
              <a:rPr lang="ko-KR" altLang="en-US"/>
              <a:t>내면을 볼 수 있다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9688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099" y="428206"/>
            <a:ext cx="7887801" cy="600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544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스토리보드의 기본 형태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08547" y="1825625"/>
            <a:ext cx="11774906" cy="4351338"/>
          </a:xfrm>
        </p:spPr>
        <p:txBody>
          <a:bodyPr>
            <a:normAutofit lnSpcReduction="10000"/>
          </a:bodyPr>
          <a:lstStyle/>
          <a:p>
            <a:r>
              <a:rPr lang="en-US" altLang="ko-KR"/>
              <a:t>‘</a:t>
            </a:r>
            <a:r>
              <a:rPr lang="ko-KR" altLang="en-US"/>
              <a:t>상황</a:t>
            </a:r>
            <a:r>
              <a:rPr lang="en-US" altLang="ko-KR"/>
              <a:t>’</a:t>
            </a:r>
            <a:r>
              <a:rPr lang="ko-KR" altLang="en-US"/>
              <a:t>을 만든다</a:t>
            </a:r>
            <a:r>
              <a:rPr lang="en-US" altLang="ko-KR"/>
              <a:t>.</a:t>
            </a:r>
          </a:p>
          <a:p>
            <a:r>
              <a:rPr lang="ko-KR" altLang="en-US"/>
              <a:t>그림 위쪽에는 상황의 정체성을 적어준다</a:t>
            </a:r>
            <a:r>
              <a:rPr lang="en-US" altLang="ko-KR"/>
              <a:t>.</a:t>
            </a:r>
          </a:p>
          <a:p>
            <a:r>
              <a:rPr lang="ko-KR" altLang="en-US"/>
              <a:t>상황을 설계하는 데 필요한 요소만 나열하면 된다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등장인물 </a:t>
            </a:r>
            <a:r>
              <a:rPr lang="en-US" altLang="ko-KR"/>
              <a:t>: </a:t>
            </a:r>
            <a:r>
              <a:rPr lang="ko-KR" altLang="en-US"/>
              <a:t>포즈</a:t>
            </a:r>
            <a:r>
              <a:rPr lang="en-US" altLang="ko-KR"/>
              <a:t>(</a:t>
            </a:r>
            <a:r>
              <a:rPr lang="ko-KR" altLang="en-US"/>
              <a:t>시선 처리가 가장 중요</a:t>
            </a:r>
            <a:r>
              <a:rPr lang="en-US" altLang="ko-KR"/>
              <a:t>)</a:t>
            </a:r>
            <a:r>
              <a:rPr lang="ko-KR" altLang="en-US"/>
              <a:t>를 잡는다</a:t>
            </a:r>
            <a:r>
              <a:rPr lang="en-US" altLang="ko-KR"/>
              <a:t>. </a:t>
            </a:r>
            <a:r>
              <a:rPr lang="ko-KR" altLang="en-US"/>
              <a:t>그 포즈에 의도가 담기는 것</a:t>
            </a:r>
            <a:endParaRPr lang="en-US" altLang="ko-KR"/>
          </a:p>
          <a:p>
            <a:pPr lvl="1"/>
            <a:r>
              <a:rPr lang="ko-KR" altLang="en-US"/>
              <a:t>등장무대</a:t>
            </a:r>
            <a:endParaRPr lang="en-US" altLang="ko-KR"/>
          </a:p>
          <a:p>
            <a:pPr lvl="1"/>
            <a:r>
              <a:rPr lang="ko-KR" altLang="en-US"/>
              <a:t>대본</a:t>
            </a:r>
            <a:endParaRPr lang="en-US" altLang="ko-KR"/>
          </a:p>
          <a:p>
            <a:r>
              <a:rPr lang="ko-KR" altLang="en-US"/>
              <a:t>그림 아래에 설명을 적는다</a:t>
            </a:r>
            <a:r>
              <a:rPr lang="en-US" altLang="ko-KR"/>
              <a:t>. =&gt; </a:t>
            </a:r>
            <a:r>
              <a:rPr lang="ko-KR" altLang="en-US"/>
              <a:t>설계자의 의도</a:t>
            </a:r>
            <a:endParaRPr lang="en-US" altLang="ko-KR"/>
          </a:p>
          <a:p>
            <a:pPr lvl="1"/>
            <a:r>
              <a:rPr lang="en-US" altLang="ko-KR"/>
              <a:t>‘</a:t>
            </a:r>
            <a:r>
              <a:rPr lang="ko-KR" altLang="en-US"/>
              <a:t>감상</a:t>
            </a:r>
            <a:r>
              <a:rPr lang="en-US" altLang="ko-KR"/>
              <a:t>’ x</a:t>
            </a:r>
          </a:p>
          <a:p>
            <a:pPr lvl="1"/>
            <a:r>
              <a:rPr lang="en-US" altLang="ko-KR"/>
              <a:t>‘</a:t>
            </a:r>
            <a:r>
              <a:rPr lang="ko-KR" altLang="en-US"/>
              <a:t>개발</a:t>
            </a:r>
            <a:r>
              <a:rPr lang="en-US" altLang="ko-KR"/>
              <a:t>＇</a:t>
            </a:r>
            <a:r>
              <a:rPr lang="ko-KR" altLang="en-US"/>
              <a:t>에 필요한 설명</a:t>
            </a:r>
            <a:endParaRPr lang="en-US" altLang="ko-KR"/>
          </a:p>
          <a:p>
            <a:r>
              <a:rPr lang="ko-KR" altLang="en-US"/>
              <a:t>카메라의 시선 </a:t>
            </a:r>
            <a:r>
              <a:rPr lang="en-US" altLang="ko-KR"/>
              <a:t>: </a:t>
            </a:r>
            <a:r>
              <a:rPr lang="ko-KR" altLang="en-US"/>
              <a:t>그 시선의 이어짐 </a:t>
            </a:r>
            <a:r>
              <a:rPr lang="en-US" altLang="ko-KR"/>
              <a:t>=</a:t>
            </a:r>
            <a:r>
              <a:rPr lang="ko-KR" altLang="en-US"/>
              <a:t> 상황의 기차칸의 흐름</a:t>
            </a:r>
          </a:p>
        </p:txBody>
      </p:sp>
    </p:spTree>
    <p:extLst>
      <p:ext uri="{BB962C8B-B14F-4D97-AF65-F5344CB8AC3E}">
        <p14:creationId xmlns:p14="http://schemas.microsoft.com/office/powerpoint/2010/main" val="1019199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스토리보드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타임라인 </a:t>
            </a:r>
            <a:r>
              <a:rPr lang="en-US" altLang="ko-KR" dirty="0"/>
              <a:t>: </a:t>
            </a:r>
            <a:r>
              <a:rPr lang="ko-KR" altLang="en-US" dirty="0"/>
              <a:t>몇 초 동안의 장면인지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각각의 정보들이 출력되는 것을 작성</a:t>
            </a:r>
            <a:endParaRPr lang="en-US" altLang="ko-KR" dirty="0"/>
          </a:p>
          <a:p>
            <a:pPr lvl="1"/>
            <a:r>
              <a:rPr lang="en-US" altLang="ko-KR" dirty="0"/>
              <a:t>UI</a:t>
            </a:r>
          </a:p>
          <a:p>
            <a:pPr lvl="1"/>
            <a:r>
              <a:rPr lang="ko-KR" altLang="en-US" dirty="0"/>
              <a:t>동영상</a:t>
            </a:r>
            <a:endParaRPr lang="en-US" altLang="ko-KR" dirty="0"/>
          </a:p>
          <a:p>
            <a:pPr lvl="1"/>
            <a:r>
              <a:rPr lang="ko-KR" altLang="en-US" dirty="0"/>
              <a:t>사운드</a:t>
            </a:r>
            <a:endParaRPr lang="en-US" altLang="ko-KR" dirty="0"/>
          </a:p>
          <a:p>
            <a:pPr lvl="1"/>
            <a:r>
              <a:rPr lang="ko-KR" altLang="en-US" dirty="0"/>
              <a:t>일러스트</a:t>
            </a:r>
            <a:endParaRPr lang="en-US" altLang="ko-KR" dirty="0"/>
          </a:p>
          <a:p>
            <a:pPr lvl="1"/>
            <a:r>
              <a:rPr lang="ko-KR" altLang="en-US" dirty="0"/>
              <a:t>글자 정보</a:t>
            </a:r>
            <a:endParaRPr lang="en-US" altLang="ko-KR" dirty="0"/>
          </a:p>
          <a:p>
            <a:pPr lvl="1"/>
            <a:r>
              <a:rPr lang="ko-KR" altLang="en-US" dirty="0"/>
              <a:t>등등</a:t>
            </a:r>
          </a:p>
        </p:txBody>
      </p:sp>
    </p:spTree>
    <p:extLst>
      <p:ext uri="{BB962C8B-B14F-4D97-AF65-F5344CB8AC3E}">
        <p14:creationId xmlns:p14="http://schemas.microsoft.com/office/powerpoint/2010/main" val="106069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6FF727E1-95A0-42ED-946B-FA99409E62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5290418"/>
              </p:ext>
            </p:extLst>
          </p:nvPr>
        </p:nvGraphicFramePr>
        <p:xfrm>
          <a:off x="2032000" y="976543"/>
          <a:ext cx="8128000" cy="56728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3849">
                  <a:extLst>
                    <a:ext uri="{9D8B030D-6E8A-4147-A177-3AD203B41FA5}">
                      <a16:colId xmlns:a16="http://schemas.microsoft.com/office/drawing/2014/main" val="1904969664"/>
                    </a:ext>
                  </a:extLst>
                </a:gridCol>
                <a:gridCol w="2877351">
                  <a:extLst>
                    <a:ext uri="{9D8B030D-6E8A-4147-A177-3AD203B41FA5}">
                      <a16:colId xmlns:a16="http://schemas.microsoft.com/office/drawing/2014/main" val="580171235"/>
                    </a:ext>
                  </a:extLst>
                </a:gridCol>
                <a:gridCol w="567184">
                  <a:extLst>
                    <a:ext uri="{9D8B030D-6E8A-4147-A177-3AD203B41FA5}">
                      <a16:colId xmlns:a16="http://schemas.microsoft.com/office/drawing/2014/main" val="1665362478"/>
                    </a:ext>
                  </a:extLst>
                </a:gridCol>
                <a:gridCol w="2684016">
                  <a:extLst>
                    <a:ext uri="{9D8B030D-6E8A-4147-A177-3AD203B41FA5}">
                      <a16:colId xmlns:a16="http://schemas.microsoft.com/office/drawing/2014/main" val="23775262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362561664"/>
                    </a:ext>
                  </a:extLst>
                </a:gridCol>
              </a:tblGrid>
              <a:tr h="6452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SC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Picture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Time Line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Effect</a:t>
                      </a:r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dirty="0"/>
                        <a:t>Trigger</a:t>
                      </a:r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9546112"/>
                  </a:ext>
                </a:extLst>
              </a:tr>
              <a:tr h="1675873">
                <a:tc>
                  <a:txBody>
                    <a:bodyPr/>
                    <a:lstStyle/>
                    <a:p>
                      <a:pPr algn="l"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270198"/>
                  </a:ext>
                </a:extLst>
              </a:tr>
              <a:tr h="1675873">
                <a:tc>
                  <a:txBody>
                    <a:bodyPr/>
                    <a:lstStyle/>
                    <a:p>
                      <a:pPr algn="l"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8428929"/>
                  </a:ext>
                </a:extLst>
              </a:tr>
              <a:tr h="1675873">
                <a:tc>
                  <a:txBody>
                    <a:bodyPr/>
                    <a:lstStyle/>
                    <a:p>
                      <a:pPr algn="l"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1934818"/>
                  </a:ext>
                </a:extLst>
              </a:tr>
            </a:tbl>
          </a:graphicData>
        </a:graphic>
      </p:graphicFrame>
      <p:sp>
        <p:nvSpPr>
          <p:cNvPr id="5" name="제목 1">
            <a:extLst>
              <a:ext uri="{FF2B5EF4-FFF2-40B4-BE49-F238E27FC236}">
                <a16:creationId xmlns:a16="http://schemas.microsoft.com/office/drawing/2014/main" id="{B5D6560A-46D9-4BB0-B85D-443195A77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0" y="115410"/>
            <a:ext cx="1828800" cy="727969"/>
          </a:xfrm>
        </p:spPr>
        <p:txBody>
          <a:bodyPr>
            <a:normAutofit/>
          </a:bodyPr>
          <a:lstStyle/>
          <a:p>
            <a:r>
              <a:rPr lang="ko-KR" altLang="en-US" sz="2500" dirty="0"/>
              <a:t>스토리보드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13D450-7DEB-406F-B7D7-77E5E96970A8}"/>
              </a:ext>
            </a:extLst>
          </p:cNvPr>
          <p:cNvSpPr txBox="1"/>
          <p:nvPr/>
        </p:nvSpPr>
        <p:spPr>
          <a:xfrm>
            <a:off x="2032000" y="348589"/>
            <a:ext cx="897288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/>
              <a:t>지하철 내부와 하차 이후 인근 지역을 배경으로</a:t>
            </a:r>
            <a:r>
              <a:rPr lang="en-US" altLang="ko-KR" sz="1050" dirty="0"/>
              <a:t>, </a:t>
            </a:r>
            <a:r>
              <a:rPr lang="ko-KR" altLang="en-US" sz="1050" dirty="0"/>
              <a:t>선의가 고갈된 인물이 균열로 향하게 되는 장면입니다</a:t>
            </a:r>
            <a:r>
              <a:rPr lang="en-US" altLang="ko-KR" sz="1050" dirty="0"/>
              <a:t>.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1291570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836" y="223390"/>
            <a:ext cx="8078327" cy="641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984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544" y="417499"/>
            <a:ext cx="9668057" cy="619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065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3732" y="1176023"/>
            <a:ext cx="6344535" cy="450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94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그림 42">
            <a:extLst>
              <a:ext uri="{FF2B5EF4-FFF2-40B4-BE49-F238E27FC236}">
                <a16:creationId xmlns:a16="http://schemas.microsoft.com/office/drawing/2014/main" id="{EC8104E9-8C1A-4893-A693-8487B8285B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034" y="2816441"/>
            <a:ext cx="2143957" cy="122511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442787F-B81B-47F0-9C08-74B9915A50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3475" y="5359352"/>
            <a:ext cx="2143956" cy="122511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43C6B8F-0CE4-4D6B-A2DC-A65EC50333B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0814" y="5359352"/>
            <a:ext cx="2143956" cy="122511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382CCFB-64B9-4DC9-8B28-4022CCC9E7A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9206" y="5359352"/>
            <a:ext cx="2143956" cy="122511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0BACD19-37ED-427D-A31F-4B702454D85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3" y="5359352"/>
            <a:ext cx="2143957" cy="1225118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026F56D6-6647-43D2-A0DE-5DF573061D9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034" y="568170"/>
            <a:ext cx="2143957" cy="1225118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D838E709-A54D-4452-84E2-9D8DEA314A9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771" y="568170"/>
            <a:ext cx="2143957" cy="1225118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E241BBD6-7360-4E64-97B7-25B1D4B427A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6297" y="568170"/>
            <a:ext cx="2143957" cy="1225118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A6723657-6B99-4F3F-95F2-733C293C98F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7560" y="568170"/>
            <a:ext cx="2143957" cy="1225118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3F6D8037-2CB6-4E0A-8299-48C7B0D54EF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770" y="2816441"/>
            <a:ext cx="2143957" cy="1225118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C1D91087-CE0A-4EBA-9441-DCE34E6509B9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12" r="36170"/>
          <a:stretch/>
        </p:blipFill>
        <p:spPr>
          <a:xfrm>
            <a:off x="4272378" y="2816441"/>
            <a:ext cx="609267" cy="1225118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5F2E9B15-0F06-44C6-83A6-B0A56BC5D9C6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71" t="15419" r="45254" b="78750"/>
          <a:stretch/>
        </p:blipFill>
        <p:spPr>
          <a:xfrm>
            <a:off x="10130271" y="762000"/>
            <a:ext cx="166689" cy="7143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A894BF91-F10B-4CD8-A8F1-A59E33FA5FD1}"/>
              </a:ext>
            </a:extLst>
          </p:cNvPr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55" t="9035" r="47250" b="65308"/>
          <a:stretch/>
        </p:blipFill>
        <p:spPr>
          <a:xfrm>
            <a:off x="1486349" y="5673725"/>
            <a:ext cx="158246" cy="193412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93931AEE-4A45-4B56-8655-759AC6A0AEB4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7147" y="2816441"/>
            <a:ext cx="2143957" cy="1225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540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183</Words>
  <Application>Microsoft Office PowerPoint</Application>
  <PresentationFormat>와이드스크린</PresentationFormat>
  <Paragraphs>36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미야자키 하야오</vt:lpstr>
      <vt:lpstr>시각화</vt:lpstr>
      <vt:lpstr>PowerPoint 프레젠테이션</vt:lpstr>
      <vt:lpstr>스토리보드의 기본 형태</vt:lpstr>
      <vt:lpstr>스토리보드</vt:lpstr>
      <vt:lpstr>스토리보드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15</cp:revision>
  <dcterms:created xsi:type="dcterms:W3CDTF">2026-04-08T04:50:12Z</dcterms:created>
  <dcterms:modified xsi:type="dcterms:W3CDTF">2026-04-08T09:44:16Z</dcterms:modified>
</cp:coreProperties>
</file>